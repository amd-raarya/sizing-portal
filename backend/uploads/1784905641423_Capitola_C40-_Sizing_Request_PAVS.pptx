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ags/tag1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3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941" r:id="rId4"/>
    <p:sldMasterId id="2147485114" r:id="rId5"/>
    <p:sldMasterId id="2147485165" r:id="rId6"/>
    <p:sldMasterId id="2147485210" r:id="rId7"/>
  </p:sldMasterIdLst>
  <p:notesMasterIdLst>
    <p:notesMasterId r:id="rId19"/>
  </p:notesMasterIdLst>
  <p:handoutMasterIdLst>
    <p:handoutMasterId r:id="rId20"/>
  </p:handoutMasterIdLst>
  <p:sldIdLst>
    <p:sldId id="284" r:id="rId8"/>
    <p:sldId id="2147479764" r:id="rId9"/>
    <p:sldId id="2147482771" r:id="rId10"/>
    <p:sldId id="2147482770" r:id="rId11"/>
    <p:sldId id="2147482766" r:id="rId12"/>
    <p:sldId id="2147471342" r:id="rId13"/>
    <p:sldId id="2147479767" r:id="rId14"/>
    <p:sldId id="2147482772" r:id="rId15"/>
    <p:sldId id="2147479763" r:id="rId16"/>
    <p:sldId id="2147479765" r:id="rId17"/>
    <p:sldId id="2147482666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0929AC3-B4FE-4BF4-A8F7-CDC2A682DDBD}">
          <p14:sldIdLst>
            <p14:sldId id="284"/>
            <p14:sldId id="2147479764"/>
            <p14:sldId id="2147482771"/>
            <p14:sldId id="2147482770"/>
            <p14:sldId id="2147482766"/>
            <p14:sldId id="2147471342"/>
            <p14:sldId id="2147479767"/>
            <p14:sldId id="2147482772"/>
            <p14:sldId id="2147479763"/>
            <p14:sldId id="2147479765"/>
            <p14:sldId id="21474826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992E13-2CC1-B3CB-549E-02922AC453AD}" name="Kumar, Satheesh" initials="SK" userId="S::sathekum@amd.com::b6494e8f-dd6b-4e40-8c60-6e31b0eafebe" providerId="AD"/>
  <p188:author id="{102BAF45-E057-DF0F-7FD1-78DF43088995}" name="Guru, Ritul" initials="GR" userId="S::rguru@amd.com::44e8123d-8a73-4850-a8b6-8de20bad0fe3" providerId="AD"/>
  <p188:author id="{00089C4D-9FFE-87FF-163C-05B677DB50D3}" name="SR, Muralidhar" initials="MS" userId="S::muralisr@amd.com::5c17fb53-f182-4c8f-8b7a-2bf6e74f8511" providerId="AD"/>
  <p188:author id="{6CB06F4F-7248-3B81-3483-CBAB919C4197}" name="Sapale, Amol" initials="" userId="S::amsapale@amd.com::38dde1a9-26cf-4bd8-86e8-e03b66d204a9" providerId="AD"/>
  <p188:author id="{6E673759-A32D-5C93-B467-9DF55E140460}" name="Anumolu, Sudheer" initials="SA" userId="S::suanumol@amd.com::6650eec2-7071-4f8b-8b87-822c07179068" providerId="AD"/>
  <p188:author id="{F0ABD259-31EE-6E30-192C-E8CD05BD398C}" name="Huang, Ray" initials="RH" userId="S::ruihuang@amd.com::10d20076-ce60-464e-bf2d-d9dd52e89fc3" providerId="AD"/>
  <p188:author id="{1546DB5C-51A3-3059-4C9D-AB2867C3A1F8}" name="Yu, Hui" initials="" userId="S::hyu@amd.com::70f132db-3c0b-49e9-9172-a4283d95e4d6" providerId="AD"/>
  <p188:author id="{E2F8AB64-AEF2-C2AB-0F23-D792B10E2F4C}" name="Krishnaswamy, Sandeep" initials="SK" userId="S::sankrish@amd.com::49bf189f-e012-4832-ae29-abe890641cc1" providerId="AD"/>
  <p188:author id="{6AE44A68-D7BC-3F7D-3824-C8990B3019BA}" name="Martinez, Ioseph" initials="IM" userId="S::iomartin@amd.com::24c51a8a-addd-43ac-abaa-d0d7df7d684e" providerId="AD"/>
  <p188:author id="{7C02206C-F29E-B308-D9EF-7AC5341F5B9E}" name="Sahu, AmitKumar (Amit Kumar)" initials="AS" userId="S::amitsahu@amd.com::b027c055-3c04-46b5-a005-9672a04a5942" providerId="AD"/>
  <p188:author id="{8537D27B-6834-1085-FD43-B48EA23D452B}" name="Kokate, Kalyani" initials="" userId="S::kakokate@amd.com::293c4596-1152-44b7-b65f-1f4a02a816d8" providerId="AD"/>
  <p188:author id="{EEAEA496-94A4-9824-0093-D9DF9E77E5BE}" name="Ramayanam, Pavan" initials="" userId="S::pramayan@amd.com::ffcedf1e-b479-4ac1-9cde-64e6d6450e7e" providerId="AD"/>
  <p188:author id="{5EE94299-0724-AB67-EE06-7DD69871D7E6}" name="Reichherzer, Christian" initials="RC" userId="S::creichhe@amd.com::979f1048-fd2c-41c0-824d-221169e64077" providerId="AD"/>
  <p188:author id="{E311CA9E-5C90-1109-6D22-12B7B70CF449}" name="Jayakumar, Tamil-Velan" initials="TJ" userId="S::tjayakum@amd.com::134b00eb-c322-4d84-b3b0-dd5935252472" providerId="AD"/>
  <p188:author id="{897D3BB4-01E3-B3CC-87A3-C2F54AB83F82}" name="May, Roger" initials="MR" userId="S::rmay@amd.com::12032f01-4916-4e5e-81eb-37abe8bfac38" providerId="AD"/>
  <p188:author id="{E1CD24C7-47EA-2B49-33AD-30288B4B3ABA}" name="Yan, Zhaohui" initials="" userId="S::zhaohyan@amd.com::f56ad578-d0ca-4825-ac93-1312648419f4" providerId="AD"/>
  <p188:author id="{FC06CAC8-F823-EFB8-9D75-8408FD6520FD}" name="Gupta, Prateek1" initials="PG" userId="S::prategup@amd.com::24c53aeb-c237-4459-8e60-3d0692cfe75f" providerId="AD"/>
  <p188:author id="{215E0DE8-4D5C-3084-B4CD-2C7371299D44}" name="Han, Forester" initials="FH" userId="S::foreshan@amd.com::3b9af8f8-f45d-4aa2-9b1c-98d6b3d0a2c0" providerId="AD"/>
  <p188:author id="{3506CAED-FCA8-68DD-7BA5-62BC31B9314F}" name="Kumar, Ravi1" initials="" userId="S::kumarrav@amd.com::b0b63466-a3d9-4a1f-9eb4-b44cfdeffbef" providerId="AD"/>
  <p188:author id="{DB843AF6-450C-2A1E-0C4A-B2E280969134}" name="Natarajan, Venkatesh" initials="NV" userId="S::venatara@amd.com::8f391f29-1935-4d37-8a66-ad4181d69a8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ons, Wayne" initials="LW" lastIdx="1" clrIdx="0">
    <p:extLst>
      <p:ext uri="{19B8F6BF-5375-455C-9EA6-DF929625EA0E}">
        <p15:presenceInfo xmlns:p15="http://schemas.microsoft.com/office/powerpoint/2012/main" userId="Lyons, Way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D8FF"/>
    <a:srgbClr val="3607B9"/>
    <a:srgbClr val="2806BA"/>
    <a:srgbClr val="DEF2E4"/>
    <a:srgbClr val="339933"/>
    <a:srgbClr val="678EE5"/>
    <a:srgbClr val="0098BC"/>
    <a:srgbClr val="5A7488"/>
    <a:srgbClr val="007C97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37DF5D-6D6C-7F4A-A4D2-BC76889F0E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945" cy="465930"/>
          </a:xfrm>
          <a:prstGeom prst="rect">
            <a:avLst/>
          </a:prstGeom>
        </p:spPr>
        <p:txBody>
          <a:bodyPr vert="horz" lIns="91250" tIns="45625" rIns="91250" bIns="4562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70F62-6CDF-A647-A6AB-2805F663B8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872" y="0"/>
            <a:ext cx="3037945" cy="465930"/>
          </a:xfrm>
          <a:prstGeom prst="rect">
            <a:avLst/>
          </a:prstGeom>
        </p:spPr>
        <p:txBody>
          <a:bodyPr vert="horz" lIns="91250" tIns="45625" rIns="91250" bIns="45625" rtlCol="0"/>
          <a:lstStyle>
            <a:lvl1pPr algn="r">
              <a:defRPr sz="1200"/>
            </a:lvl1pPr>
          </a:lstStyle>
          <a:p>
            <a:fld id="{37A4940E-3CFE-E34D-A85F-DB85EE49EFF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624E6-CFDD-D14A-9C9A-72714EE1A3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8830471"/>
            <a:ext cx="3037945" cy="465930"/>
          </a:xfrm>
          <a:prstGeom prst="rect">
            <a:avLst/>
          </a:prstGeom>
        </p:spPr>
        <p:txBody>
          <a:bodyPr vert="horz" lIns="91250" tIns="45625" rIns="91250" bIns="4562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2BF50-DA68-B444-9AAB-CFA3E2863D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872" y="8830471"/>
            <a:ext cx="3037945" cy="465930"/>
          </a:xfrm>
          <a:prstGeom prst="rect">
            <a:avLst/>
          </a:prstGeom>
        </p:spPr>
        <p:txBody>
          <a:bodyPr vert="horz" lIns="91250" tIns="45625" rIns="91250" bIns="45625" rtlCol="0" anchor="b"/>
          <a:lstStyle>
            <a:lvl1pPr algn="r">
              <a:defRPr sz="1200"/>
            </a:lvl1pPr>
          </a:lstStyle>
          <a:p>
            <a:fld id="{86B80B80-503E-BC45-8CB0-4FFF72525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32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67" tIns="46583" rIns="93167" bIns="4658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466434"/>
          </a:xfrm>
          <a:prstGeom prst="rect">
            <a:avLst/>
          </a:prstGeom>
        </p:spPr>
        <p:txBody>
          <a:bodyPr vert="horz" lIns="93167" tIns="46583" rIns="93167" bIns="46583" rtlCol="0"/>
          <a:lstStyle>
            <a:lvl1pPr algn="r">
              <a:defRPr sz="1200"/>
            </a:lvl1pPr>
          </a:lstStyle>
          <a:p>
            <a:fld id="{F57F80BB-F18A-486F-BF92-5C1ADBE4CF6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3" rIns="93167" bIns="4658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7"/>
          </a:xfrm>
          <a:prstGeom prst="rect">
            <a:avLst/>
          </a:prstGeom>
        </p:spPr>
        <p:txBody>
          <a:bodyPr vert="horz" lIns="93167" tIns="46583" rIns="93167" bIns="4658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7" tIns="46583" rIns="93167" bIns="4658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3167" tIns="46583" rIns="93167" bIns="46583" rtlCol="0" anchor="b"/>
          <a:lstStyle>
            <a:lvl1pPr algn="r">
              <a:defRPr sz="1200"/>
            </a:lvl1pPr>
          </a:lstStyle>
          <a:p>
            <a:fld id="{6180F350-3DCA-400C-8EB9-31A7D11C5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34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44218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</a:pPr>
            <a:endParaRPr lang="en-US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Advanced Micro Devices, Inc. All rights reserved. Confidential – Not for distribution.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34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5B1DC-953F-5101-E5CC-3B852AD5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014DB-ACC0-FF82-0204-6CF7AE9AE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D5D35-FC94-485A-60F1-79ECA24D9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852">
              <a:defRPr/>
            </a:pPr>
            <a:r>
              <a:rPr lang="en-US" sz="1200" b="1"/>
              <a:t>Assume Features already present:</a:t>
            </a:r>
          </a:p>
          <a:p>
            <a:pPr defTabSz="913852">
              <a:defRPr/>
            </a:pPr>
            <a:r>
              <a:rPr lang="en-US" sz="1200"/>
              <a:t>(+) stable 35 RAVE2 platform with BIOS available by End Q2</a:t>
            </a:r>
          </a:p>
          <a:p>
            <a:pPr defTabSz="913852">
              <a:defRPr/>
            </a:pPr>
            <a:r>
              <a:rPr lang="en-US" sz="1200"/>
              <a:t>(+) No dependency on telluride for boot order or splash/</a:t>
            </a:r>
            <a:r>
              <a:rPr lang="en-US" sz="1200" err="1"/>
              <a:t>spi</a:t>
            </a:r>
            <a:r>
              <a:rPr lang="en-US" sz="1200"/>
              <a:t>-rom </a:t>
            </a:r>
          </a:p>
          <a:p>
            <a:pPr defTabSz="913852">
              <a:defRPr/>
            </a:pPr>
            <a:r>
              <a:rPr lang="en-US" sz="1200"/>
              <a:t>(+) No UFS for APU</a:t>
            </a:r>
          </a:p>
          <a:p>
            <a:pPr marL="0" indent="0">
              <a:buFont typeface="Calibri"/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5C86E-69E4-7FA5-06CB-F71D530C12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36549-D270-C642-9B80-6978D8BB6B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92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8C68-BD93-FBAD-48C3-992219B7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1E526-6B90-6B7E-ADF3-D68037490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5342A-4F4D-3D04-11C2-F43FDB267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852">
              <a:defRPr/>
            </a:pPr>
            <a:r>
              <a:rPr lang="en-US" sz="1200" b="1"/>
              <a:t>Assume Features already present:</a:t>
            </a:r>
          </a:p>
          <a:p>
            <a:pPr defTabSz="913852">
              <a:defRPr/>
            </a:pPr>
            <a:r>
              <a:rPr lang="en-US" sz="1200"/>
              <a:t>(+) stable 35 RAVE2 platform with BIOS available by End Q2</a:t>
            </a:r>
          </a:p>
          <a:p>
            <a:pPr defTabSz="913852">
              <a:defRPr/>
            </a:pPr>
            <a:r>
              <a:rPr lang="en-US" sz="1200"/>
              <a:t>(+) No dependency on telluride for boot order or splash/</a:t>
            </a:r>
            <a:r>
              <a:rPr lang="en-US" sz="1200" err="1"/>
              <a:t>spi</a:t>
            </a:r>
            <a:r>
              <a:rPr lang="en-US" sz="1200"/>
              <a:t>-rom </a:t>
            </a:r>
          </a:p>
          <a:p>
            <a:pPr defTabSz="913852">
              <a:defRPr/>
            </a:pPr>
            <a:r>
              <a:rPr lang="en-US" sz="1200"/>
              <a:t>(+) No UFS for APU</a:t>
            </a:r>
          </a:p>
          <a:p>
            <a:pPr marL="0" indent="0">
              <a:buFont typeface="Calibri"/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C6C75-1C96-204F-9EBE-B67840AAE7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36549-D270-C642-9B80-6978D8BB6B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965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CBE6-13E1-4370-B622-63C70D19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D7C6C-4C0B-FBC9-C079-5AB5BC2DC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FFEFC-54BF-BB2E-0070-B9D24E48F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R1: </a:t>
            </a:r>
            <a:r>
              <a:rPr lang="en-US" err="1"/>
              <a:t>ROCm</a:t>
            </a:r>
            <a:r>
              <a:rPr lang="en-US"/>
              <a:t> Debugger and profiles</a:t>
            </a:r>
          </a:p>
          <a:p>
            <a:r>
              <a:rPr lang="en-US"/>
              <a:t>R2: </a:t>
            </a:r>
            <a:r>
              <a:rPr lang="en-US" err="1"/>
              <a:t>ROCm</a:t>
            </a:r>
            <a:r>
              <a:rPr lang="en-US"/>
              <a:t> 7.9, LTS kernel 6.18</a:t>
            </a:r>
          </a:p>
          <a:p>
            <a:r>
              <a:rPr lang="en-US"/>
              <a:t>R3: </a:t>
            </a:r>
            <a:r>
              <a:rPr lang="en-US" err="1"/>
              <a:t>ROCm</a:t>
            </a:r>
            <a:r>
              <a:rPr lang="en-US"/>
              <a:t> all features (heap, runtime, lib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r>
              <a:rPr lang="en-US"/>
              <a:t>R4: </a:t>
            </a:r>
            <a:r>
              <a:rPr lang="en-US" err="1"/>
              <a:t>ROCm</a:t>
            </a:r>
            <a:r>
              <a:rPr lang="en-US"/>
              <a:t> 8.0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00A7D-316B-8522-4D2F-CF6E94D611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36549-D270-C642-9B80-6978D8BB6B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241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150F-8886-371B-D5DA-8BE2544F2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424C3-37B4-1582-4D23-61A7D3DB5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AF883-6CF1-505C-9279-ECD411C77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4779E-1940-CD59-4FF2-5F7488547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99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46944-E1DB-BDA4-7B4D-13E4659AC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8D02B-205F-A9FF-E4C8-224BAB82B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E8B1A-F9A9-0EB3-8AFB-3A9A26B4A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5ECAF-67C4-6CD7-0E35-776A81705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24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A83F-8A41-9042-5FDB-0AAFF7E3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15A39-475B-4387-8F2A-099194663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79016-CE9C-8ECA-DF12-6D1BD6FA3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85F9B-F8E9-6CF4-DF43-3852CF6AA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91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A382-214D-7E23-50F0-B80C70C4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53AB4-315D-AE8F-E99A-72EBEDB43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5C72A-BEA2-DB36-D302-2FCC0DC6B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1ECD2-E626-3DBB-5801-477FD8304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88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7733-52D7-F076-2251-D14B2403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34BB1-C82B-ED48-7E75-A64EC19A6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94850-78FE-FBAC-E500-CC74A718F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7B0C5-1A52-D51B-0575-0377A8471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94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5.emf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3987" y="5970494"/>
            <a:ext cx="2794483" cy="79589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724573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04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73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88630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64540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84348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09890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42793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2584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344081053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235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7868846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42090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554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60747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75907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6467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24180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8714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159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14223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5791101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4898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705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70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7430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3269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3070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0635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07510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RTG-TXTR-Grey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"/>
            <a:ext cx="12192001" cy="6857999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22872" y="2871669"/>
            <a:ext cx="8946250" cy="860425"/>
          </a:xfrm>
        </p:spPr>
        <p:txBody>
          <a:bodyPr anchor="ctr" anchorCtr="0"/>
          <a:lstStyle>
            <a:lvl1pPr marL="0" indent="0" algn="ctr">
              <a:buFontTx/>
              <a:buNone/>
              <a:defRPr sz="3598" b="0" i="0" cap="none" spc="-60" baseline="0">
                <a:latin typeface="Effra Light" charset="0"/>
                <a:ea typeface="Effra Light" charset="0"/>
                <a:cs typeface="Effra Light" charset="0"/>
              </a:defRPr>
            </a:lvl1pPr>
            <a:lvl2pPr marL="367445" indent="0" algn="r">
              <a:buFontTx/>
              <a:buNone/>
              <a:defRPr sz="2398"/>
            </a:lvl2pPr>
            <a:lvl3pPr marL="745677" indent="0" algn="r">
              <a:buFontTx/>
              <a:buNone/>
              <a:defRPr sz="2398"/>
            </a:lvl3pPr>
            <a:lvl4pPr marL="1188006" indent="0" algn="r">
              <a:buFontTx/>
              <a:buNone/>
              <a:defRPr sz="2398"/>
            </a:lvl4pPr>
            <a:lvl5pPr marL="1480440" indent="0" algn="r">
              <a:buFontTx/>
              <a:buNone/>
              <a:defRPr sz="2398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237806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939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9179494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3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377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56" indent="0" algn="l" defTabSz="914377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07" indent="0" algn="l" defTabSz="914377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690" indent="0" algn="l" defTabSz="914377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291" indent="0" algn="l" defTabSz="914377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2E521-1E0B-FD4B-BE97-792058E3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3216" y="6569589"/>
            <a:ext cx="6050280" cy="236748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000" b="0" cap="all">
                <a:solidFill>
                  <a:schemeClr val="tx1"/>
                </a:solidFill>
                <a:latin typeface="Calibri" pitchFamily="34" charset="0"/>
                <a:cs typeface="Arial" pitchFamily="34" charset="0"/>
              </a:rPr>
              <a:t>| AMD EMBEDDED BU  |  JANUARY 2022 | AMD 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138513973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C9CD-CEB4-6749-878D-F8E61EC7F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C00CF4-3647-9142-A97E-5B77428DAD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6700" y="914400"/>
            <a:ext cx="11658600" cy="5448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250ED-5503-2643-9C0C-A2BA9E76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3216" y="6569589"/>
            <a:ext cx="6050280" cy="236748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000" b="0" cap="all">
                <a:solidFill>
                  <a:schemeClr val="tx1"/>
                </a:solidFill>
                <a:latin typeface="Calibri" pitchFamily="34" charset="0"/>
                <a:cs typeface="Arial" pitchFamily="34" charset="0"/>
              </a:rPr>
              <a:t>| AMD EMBEDDED BU  |  JANUARY 2022 | AMD 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129416909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hart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38F210A-C9FE-F74F-9F8F-CEC5BB94A6DA}"/>
              </a:ext>
            </a:extLst>
          </p:cNvPr>
          <p:cNvSpPr/>
          <p:nvPr userDrawn="1"/>
        </p:nvSpPr>
        <p:spPr>
          <a:xfrm>
            <a:off x="391238" y="1699146"/>
            <a:ext cx="11800764" cy="4586271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5C6D65-1F11-5047-A531-A7BC420F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36" y="447261"/>
            <a:ext cx="11409528" cy="10411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999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44815D0-E14B-D043-8892-D7F3F700BA1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6773" y="1896701"/>
            <a:ext cx="11153992" cy="42141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7C4467-48AE-994F-8940-B5866EED82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8340" y="6467047"/>
            <a:ext cx="607179" cy="145695"/>
          </a:xfrm>
          <a:prstGeom prst="rect">
            <a:avLst/>
          </a:prstGeom>
        </p:spPr>
      </p:pic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DEFB4B00-BD4E-E64C-AC75-89BAD95C7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5" y="6442744"/>
            <a:ext cx="345991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6006907-2DC6-4998-87B1-53C27C7A099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7399FE-2A02-D041-9581-700A896D2274}"/>
              </a:ext>
            </a:extLst>
          </p:cNvPr>
          <p:cNvCxnSpPr>
            <a:cxnSpLocks/>
          </p:cNvCxnSpPr>
          <p:nvPr userDrawn="1"/>
        </p:nvCxnSpPr>
        <p:spPr>
          <a:xfrm>
            <a:off x="0" y="160151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2"/>
                </a:gs>
                <a:gs pos="45000">
                  <a:schemeClr val="accent2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E00F1A-F519-B246-9B15-B3F988060932}"/>
              </a:ext>
            </a:extLst>
          </p:cNvPr>
          <p:cNvCxnSpPr>
            <a:cxnSpLocks/>
          </p:cNvCxnSpPr>
          <p:nvPr userDrawn="1"/>
        </p:nvCxnSpPr>
        <p:spPr>
          <a:xfrm>
            <a:off x="0" y="6693687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2"/>
                </a:gs>
                <a:gs pos="45000">
                  <a:schemeClr val="accent2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9755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/Table with Callou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39504D7-8996-7340-9EF2-96D8F3DA6E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19501" y="914402"/>
            <a:ext cx="8305800" cy="51741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E31BD-F080-6142-8555-FE89F233DD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266702"/>
            <a:ext cx="11658600" cy="43625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FDD5036-F78A-2040-9D0C-71FE497F36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6701" y="1177449"/>
            <a:ext cx="2996823" cy="14342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49074D6-4099-074E-AEC0-50D243D685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1" y="3458873"/>
            <a:ext cx="2996823" cy="578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400" b="1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2DEA95D-6470-5E40-85F8-3913944B6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6702" y="4121150"/>
            <a:ext cx="2996823" cy="5015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B80E459-CCDB-E448-9B79-EBEA83FE11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6701" y="4856532"/>
            <a:ext cx="2996823" cy="5783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400" b="1" i="0" cap="all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55A9135-AFAA-E148-9174-E4C19E103E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6702" y="5518809"/>
            <a:ext cx="2996823" cy="5015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0CFC3-1564-9743-BC63-301C57F9F04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73216" y="6569589"/>
            <a:ext cx="6050280" cy="236748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000" b="0" cap="all">
                <a:solidFill>
                  <a:schemeClr val="tx1"/>
                </a:solidFill>
                <a:latin typeface="Calibri" pitchFamily="34" charset="0"/>
                <a:cs typeface="Arial" pitchFamily="34" charset="0"/>
              </a:rPr>
              <a:t>| AMD EMBEDDED BU  |  JANUARY 2022 | AMD 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86363856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1751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 and Descrip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CDF75-3DB1-E344-A637-BCAA753403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914400"/>
            <a:ext cx="5829300" cy="5318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 typeface="+mj-lt"/>
              <a:buAutoNum type="alphaLcParenR"/>
              <a:defRPr/>
            </a:lvl2pPr>
            <a:lvl3pPr marL="1257300" indent="-342900">
              <a:buFont typeface="+mj-lt"/>
              <a:buAutoNum type="romanLcPeriod"/>
              <a:defRPr/>
            </a:lvl3pPr>
            <a:lvl4pPr marL="1714500" indent="-342900">
              <a:buFont typeface="+mj-lt"/>
              <a:buAutoNum type="alphaLcParenR"/>
              <a:defRPr/>
            </a:lvl4pPr>
            <a:lvl5pPr marL="2171700" indent="-342900">
              <a:buFont typeface="+mj-lt"/>
              <a:buAutoNum type="romanLcPeriod"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194ECFE-F64B-934A-8E18-4618E150D6E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6700" y="914400"/>
            <a:ext cx="5524501" cy="5318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B0EE8-6435-264E-A214-FAA949F9B2E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8C343-4411-A840-9E51-D9A0AD42BD3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29D13-B85E-E171-01C9-76490C46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3810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4512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549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_AM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bg1">
                    <a:lumMod val="95000"/>
                  </a:schemeClr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bg1">
                    <a:lumMod val="95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7578" y="585787"/>
            <a:ext cx="1221010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124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839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4FAA5D-652B-2046-B842-C0F17EA7CF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11018520" cy="1200329"/>
          </a:xfrm>
        </p:spPr>
        <p:txBody>
          <a:bodyPr/>
          <a:lstStyle>
            <a:lvl1pPr>
              <a:buSzPct val="80000"/>
              <a:buFont typeface="Arial" panose="020B0604020202020204" pitchFamily="34" charset="0"/>
              <a:buChar char="•"/>
              <a:defRPr/>
            </a:lvl1pPr>
            <a:lvl2pPr>
              <a:buClr>
                <a:schemeClr val="accent4"/>
              </a:buClr>
              <a:buSzPct val="80000"/>
              <a:buFont typeface="Arial" panose="020B0604020202020204" pitchFamily="34" charset="0"/>
              <a:buChar char="•"/>
              <a:defRPr/>
            </a:lvl2pPr>
            <a:lvl3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3pPr>
            <a:lvl4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4pPr>
            <a:lvl5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8000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1511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7">
            <a:extLst>
              <a:ext uri="{FF2B5EF4-FFF2-40B4-BE49-F238E27FC236}">
                <a16:creationId xmlns:a16="http://schemas.microsoft.com/office/drawing/2014/main" id="{54F20B8C-78F6-4453-B5E2-4CEDF7AC48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412239" y="6561727"/>
            <a:ext cx="641532" cy="153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1FFF3B-2089-49A9-A570-07D228415302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91272-3B83-40A1-B40E-514B4C21B1D1}"/>
              </a:ext>
            </a:extLst>
          </p:cNvPr>
          <p:cNvSpPr txBox="1"/>
          <p:nvPr userDrawn="1"/>
        </p:nvSpPr>
        <p:spPr>
          <a:xfrm>
            <a:off x="489006" y="6543252"/>
            <a:ext cx="292516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G&amp;E Offsite January 2021 | AMD 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701940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or Big 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31CDC60-F1B6-0B45-A345-E8DD606FB1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2030" y="0"/>
            <a:ext cx="1118997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E4AE5D2-1D7A-E341-A8F0-5EAF40B568BE}"/>
              </a:ext>
            </a:extLst>
          </p:cNvPr>
          <p:cNvSpPr/>
          <p:nvPr userDrawn="1"/>
        </p:nvSpPr>
        <p:spPr>
          <a:xfrm>
            <a:off x="-1" y="814917"/>
            <a:ext cx="12192002" cy="5228167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49000">
                <a:srgbClr val="000000">
                  <a:alpha val="96000"/>
                </a:srgbClr>
              </a:gs>
              <a:gs pos="99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  <a:effectLst>
            <a:softEdge rad="889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F0CE0-7F69-FB4A-9B8E-F10F76E5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409911"/>
            <a:ext cx="11658600" cy="2022951"/>
          </a:xfrm>
        </p:spPr>
        <p:txBody>
          <a:bodyPr>
            <a:normAutofit/>
          </a:bodyPr>
          <a:lstStyle>
            <a:lvl1pPr>
              <a:defRPr sz="4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1FC32-6D03-804E-9C07-EF2DAA1CB8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95423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2CE38-4723-3F43-9A3A-B95DCC821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259C75-1326-0049-9079-2EACF57518A8}"/>
              </a:ext>
            </a:extLst>
          </p:cNvPr>
          <p:cNvGrpSpPr/>
          <p:nvPr userDrawn="1"/>
        </p:nvGrpSpPr>
        <p:grpSpPr>
          <a:xfrm>
            <a:off x="-2" y="2192866"/>
            <a:ext cx="10972802" cy="2472267"/>
            <a:chOff x="762000" y="2272108"/>
            <a:chExt cx="9967146" cy="247226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9F74DDF-2C0E-8D4D-BF00-BA75E9B8A158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2272108"/>
              <a:ext cx="9967146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000000">
                      <a:alpha val="0"/>
                    </a:srgbClr>
                  </a:gs>
                  <a:gs pos="48000">
                    <a:schemeClr val="accent1"/>
                  </a:gs>
                  <a:gs pos="100000">
                    <a:srgbClr val="000000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E76B47-0289-0B42-B9FD-FCEC9F66B8B4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4744375"/>
              <a:ext cx="7552267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000000">
                      <a:alpha val="0"/>
                    </a:srgbClr>
                  </a:gs>
                  <a:gs pos="48000">
                    <a:schemeClr val="accent1"/>
                  </a:gs>
                  <a:gs pos="100000">
                    <a:srgbClr val="000000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B6FB4DC-AE59-DC41-B79B-D83A58329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7711" y="4882179"/>
            <a:ext cx="8524875" cy="433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SOURCE OR ATTRIBUTE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7539E8-59A2-9941-9DFE-7778E134A5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1675642"/>
            <a:ext cx="1226289" cy="29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784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91" y="306388"/>
            <a:ext cx="10241280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1" y="1381123"/>
            <a:ext cx="5486400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1" y="752474"/>
            <a:ext cx="10241280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0" y="1381123"/>
            <a:ext cx="54864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43165195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98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40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38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90097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29584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478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66387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68980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74518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611686153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0812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0746122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10853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450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0166734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43018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16575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7817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28413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531302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30075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1974460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675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6801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39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204521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89796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1154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7045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3399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55219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07550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72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36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09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791EE2C-CA72-508C-AF77-F7276C5243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372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235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B71AB6C-BEED-906C-7BD1-810E3700B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174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9FE114-78A5-00B6-2209-5248EF59E6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0081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>
          <p15:clr>
            <a:srgbClr val="5ACBF0"/>
          </p15:clr>
        </p15:guide>
        <p15:guide id="4" pos="3659">
          <p15:clr>
            <a:srgbClr val="5ACBF0"/>
          </p15:clr>
        </p15:guide>
        <p15:guide id="5" pos="4021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FD824D3-B0BF-F030-6A67-C1DF57993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997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39800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98498A-FA22-D4DA-FA61-484A6A7EB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29584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4993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2A27EA-9A25-03D6-F6CD-53BB65C423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203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>
          <p15:clr>
            <a:srgbClr val="5ACBF0"/>
          </p15:clr>
        </p15:guide>
        <p15:guide id="8" orient="horz" pos="3648">
          <p15:clr>
            <a:srgbClr val="5ACBF0"/>
          </p15:clr>
        </p15:guide>
        <p15:guide id="10" pos="3720">
          <p15:clr>
            <a:srgbClr val="C35EA4"/>
          </p15:clr>
        </p15:guide>
        <p15:guide id="11" pos="2993">
          <p15:clr>
            <a:srgbClr val="5ACBF0"/>
          </p15:clr>
        </p15:guide>
        <p15:guide id="12" pos="3552">
          <p15:clr>
            <a:srgbClr val="A4A3A4"/>
          </p15:clr>
        </p15:guide>
        <p15:guide id="14" orient="horz" pos="1440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9393801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0670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272888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/>
              <a:t>Drag and drop your photo here</a:t>
            </a:r>
            <a:br>
              <a:rPr lang="en-US"/>
            </a:br>
            <a:r>
              <a:rPr lang="en-US"/>
              <a:t>or click or tap icon below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9FD31F-D9C5-7581-C456-D6B4203F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67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5C0E5E-8E02-C45B-9DC3-C30B8953C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312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/>
              <a:t>Click to edit heading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18E84E-C602-EEFD-DA07-5A1A14248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48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>
          <p15:clr>
            <a:srgbClr val="5ACBF0"/>
          </p15:clr>
        </p15:guide>
        <p15:guide id="11" orient="horz" pos="1275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/>
              <a:t>Click to add heading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CF18E0-53B0-CA09-B057-06DC49AD57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882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12B4FC-613C-9CF8-41B7-970931817B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284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/>
              <a:t>Click to add heading</a:t>
            </a:r>
            <a:endParaRPr lang="en-GB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67728E6-D31B-A5A2-A1BB-1AFEEB2F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241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>
          <p15:clr>
            <a:srgbClr val="5ACBF0"/>
          </p15:clr>
        </p15:guide>
        <p15:guide id="11" orient="horz" pos="2455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Drag &amp; drop a</a:t>
            </a:r>
            <a:br>
              <a:rPr lang="en-US"/>
            </a:br>
            <a:r>
              <a:rPr lang="en-US"/>
              <a:t>screenshot here</a:t>
            </a:r>
            <a:br>
              <a:rPr lang="en-US"/>
            </a:br>
            <a:r>
              <a:rPr lang="en-US"/>
              <a:t>or click or tap icon</a:t>
            </a:r>
            <a:br>
              <a:rPr lang="en-US"/>
            </a:br>
            <a:r>
              <a:rPr lang="en-US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D9AB6-52A1-91EE-AE98-B0B0BE05A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189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DE4C6A-1A4B-2F91-08F9-26625C8F1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26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76501-139F-DE3A-D0A0-CBCAD55D1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746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83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694730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11705"/>
      </p:ext>
    </p:extLst>
  </p:cSld>
  <p:clrMapOvr>
    <a:masterClrMapping/>
  </p:clrMapOvr>
  <p:transition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1367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CD3399-C787-D0BD-AB29-7D3229A5C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412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BD5AE2-7C3E-E789-AE22-6A4292D28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8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34371"/>
      </p:ext>
    </p:extLst>
  </p:cSld>
  <p:clrMapOvr>
    <a:masterClrMapping/>
  </p:clrMapOvr>
  <p:transition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 and Descrip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CDF75-3DB1-E344-A637-BCAA753403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914400"/>
            <a:ext cx="5829300" cy="5318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 typeface="+mj-lt"/>
              <a:buAutoNum type="alphaLcParenR"/>
              <a:defRPr/>
            </a:lvl2pPr>
            <a:lvl3pPr marL="1257300" indent="-342900">
              <a:buFont typeface="+mj-lt"/>
              <a:buAutoNum type="romanLcPeriod"/>
              <a:defRPr/>
            </a:lvl3pPr>
            <a:lvl4pPr marL="1714500" indent="-342900">
              <a:buFont typeface="+mj-lt"/>
              <a:buAutoNum type="alphaLcParenR"/>
              <a:defRPr/>
            </a:lvl4pPr>
            <a:lvl5pPr marL="2171700" indent="-342900">
              <a:buFont typeface="+mj-lt"/>
              <a:buAutoNum type="romanLcPeriod"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194ECFE-F64B-934A-8E18-4618E150D6E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6700" y="914400"/>
            <a:ext cx="5524501" cy="5318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B0EE8-6435-264E-A214-FAA949F9B2E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8C343-4411-A840-9E51-D9A0AD42BD3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29D13-B85E-E171-01C9-76490C46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631248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579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42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8" Type="http://schemas.openxmlformats.org/officeDocument/2006/relationships/slideLayout" Target="../slideLayouts/slideLayout5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26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5" Type="http://schemas.openxmlformats.org/officeDocument/2006/relationships/slideLayout" Target="../slideLayouts/slideLayout101.xml"/><Relationship Id="rId33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100.xml"/><Relationship Id="rId32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9.xml"/><Relationship Id="rId28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95.xml"/><Relationship Id="rId31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8.xml"/><Relationship Id="rId27" Type="http://schemas.openxmlformats.org/officeDocument/2006/relationships/slideLayout" Target="../slideLayouts/slideLayout103.xml"/><Relationship Id="rId30" Type="http://schemas.openxmlformats.org/officeDocument/2006/relationships/slideLayout" Target="../slideLayouts/slideLayout106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765E52-39FA-CDD6-CF42-9DF00DC29BE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244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[AMD Confidential - Distribution with NDA]</a:t>
            </a:r>
          </a:p>
        </p:txBody>
      </p:sp>
    </p:spTree>
    <p:extLst>
      <p:ext uri="{BB962C8B-B14F-4D97-AF65-F5344CB8AC3E}">
        <p14:creationId xmlns:p14="http://schemas.microsoft.com/office/powerpoint/2010/main" val="8797110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42" r:id="rId1"/>
    <p:sldLayoutId id="2147484943" r:id="rId2"/>
    <p:sldLayoutId id="2147484944" r:id="rId3"/>
    <p:sldLayoutId id="2147484945" r:id="rId4"/>
    <p:sldLayoutId id="2147484946" r:id="rId5"/>
    <p:sldLayoutId id="2147484947" r:id="rId6"/>
    <p:sldLayoutId id="2147484948" r:id="rId7"/>
    <p:sldLayoutId id="2147484949" r:id="rId8"/>
    <p:sldLayoutId id="2147484950" r:id="rId9"/>
    <p:sldLayoutId id="2147484951" r:id="rId10"/>
    <p:sldLayoutId id="2147484952" r:id="rId11"/>
    <p:sldLayoutId id="2147484953" r:id="rId12"/>
    <p:sldLayoutId id="2147484954" r:id="rId13"/>
    <p:sldLayoutId id="2147484955" r:id="rId14"/>
    <p:sldLayoutId id="2147484956" r:id="rId15"/>
    <p:sldLayoutId id="2147484957" r:id="rId16"/>
    <p:sldLayoutId id="2147484958" r:id="rId17"/>
    <p:sldLayoutId id="2147484959" r:id="rId18"/>
    <p:sldLayoutId id="2147484960" r:id="rId19"/>
    <p:sldLayoutId id="2147484961" r:id="rId20"/>
    <p:sldLayoutId id="2147484962" r:id="rId21"/>
    <p:sldLayoutId id="2147484963" r:id="rId22"/>
    <p:sldLayoutId id="2147484964" r:id="rId23"/>
    <p:sldLayoutId id="2147484965" r:id="rId24"/>
    <p:sldLayoutId id="2147484966" r:id="rId25"/>
    <p:sldLayoutId id="2147484967" r:id="rId26"/>
    <p:sldLayoutId id="2147484968" r:id="rId27"/>
    <p:sldLayoutId id="2147484969" r:id="rId28"/>
    <p:sldLayoutId id="2147484970" r:id="rId29"/>
    <p:sldLayoutId id="2147484971" r:id="rId30"/>
    <p:sldLayoutId id="2147484972" r:id="rId31"/>
    <p:sldLayoutId id="2147484973" r:id="rId32"/>
    <p:sldLayoutId id="2147484974" r:id="rId33"/>
    <p:sldLayoutId id="2147484975" r:id="rId34"/>
    <p:sldLayoutId id="2147485007" r:id="rId35"/>
    <p:sldLayoutId id="2147485247" r:id="rId36"/>
    <p:sldLayoutId id="2147485248" r:id="rId37"/>
    <p:sldLayoutId id="2147485249" r:id="rId38"/>
    <p:sldLayoutId id="2147485250" r:id="rId39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48C20C-E4BC-8642-84C1-11BE8A0136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412239" y="6561727"/>
            <a:ext cx="641532" cy="1537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89006" y="6543252"/>
            <a:ext cx="764312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AMD Confidential</a:t>
            </a:r>
          </a:p>
        </p:txBody>
      </p:sp>
      <p:sp>
        <p:nvSpPr>
          <p:cNvPr id="5" name="MSIPCMContentMarking" descr="{&quot;HashCode&quot;:1263689982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367CFB24-C3F5-41B7-9067-214210E2D78F}"/>
              </a:ext>
            </a:extLst>
          </p:cNvPr>
          <p:cNvSpPr txBox="1"/>
          <p:nvPr userDrawn="1"/>
        </p:nvSpPr>
        <p:spPr>
          <a:xfrm>
            <a:off x="0" y="0"/>
            <a:ext cx="2899682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</a:pPr>
            <a:r>
              <a:rPr lang="en-US" sz="1000">
                <a:solidFill>
                  <a:srgbClr val="FF8C00"/>
                </a:solidFill>
                <a:latin typeface="Arial" panose="020B0604020202020204" pitchFamily="34" charset="0"/>
              </a:rPr>
              <a:t>[Confidential - AMD Internal Distribution Only]</a:t>
            </a:r>
            <a:endParaRPr lang="en-US" sz="1000" err="1">
              <a:solidFill>
                <a:srgbClr val="FF8C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89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5" r:id="rId1"/>
    <p:sldLayoutId id="2147485116" r:id="rId2"/>
    <p:sldLayoutId id="2147485117" r:id="rId3"/>
    <p:sldLayoutId id="2147485118" r:id="rId4"/>
    <p:sldLayoutId id="2147485119" r:id="rId5"/>
    <p:sldLayoutId id="2147485120" r:id="rId6"/>
  </p:sldLayoutIdLst>
  <p:transition>
    <p:fade/>
  </p:transition>
  <p:hf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kern="1200" spc="0" baseline="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tabLst/>
        <a:defRPr sz="1600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200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756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166" r:id="rId1"/>
    <p:sldLayoutId id="2147485167" r:id="rId2"/>
    <p:sldLayoutId id="2147485168" r:id="rId3"/>
    <p:sldLayoutId id="2147485169" r:id="rId4"/>
    <p:sldLayoutId id="2147485170" r:id="rId5"/>
    <p:sldLayoutId id="2147485171" r:id="rId6"/>
    <p:sldLayoutId id="2147485172" r:id="rId7"/>
    <p:sldLayoutId id="2147485173" r:id="rId8"/>
    <p:sldLayoutId id="2147485174" r:id="rId9"/>
    <p:sldLayoutId id="2147485175" r:id="rId10"/>
    <p:sldLayoutId id="2147485176" r:id="rId11"/>
    <p:sldLayoutId id="2147485177" r:id="rId12"/>
    <p:sldLayoutId id="2147485178" r:id="rId13"/>
    <p:sldLayoutId id="2147485179" r:id="rId14"/>
    <p:sldLayoutId id="2147485180" r:id="rId15"/>
    <p:sldLayoutId id="2147485181" r:id="rId16"/>
    <p:sldLayoutId id="2147485182" r:id="rId17"/>
    <p:sldLayoutId id="2147485183" r:id="rId18"/>
    <p:sldLayoutId id="2147485184" r:id="rId19"/>
    <p:sldLayoutId id="2147485185" r:id="rId20"/>
    <p:sldLayoutId id="2147485186" r:id="rId21"/>
    <p:sldLayoutId id="2147485187" r:id="rId22"/>
    <p:sldLayoutId id="2147485188" r:id="rId23"/>
    <p:sldLayoutId id="2147485189" r:id="rId24"/>
    <p:sldLayoutId id="2147485190" r:id="rId25"/>
    <p:sldLayoutId id="2147485191" r:id="rId26"/>
    <p:sldLayoutId id="2147485192" r:id="rId27"/>
    <p:sldLayoutId id="2147485193" r:id="rId28"/>
    <p:sldLayoutId id="2147485194" r:id="rId29"/>
    <p:sldLayoutId id="2147485195" r:id="rId30"/>
    <p:sldLayoutId id="2147485196" r:id="rId31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9C908-2FDC-3D19-0AA0-CC9F3130D6C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933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3470381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002" r:id="rId1"/>
    <p:sldLayoutId id="2147485211" r:id="rId2"/>
    <p:sldLayoutId id="2147485212" r:id="rId3"/>
    <p:sldLayoutId id="2147485213" r:id="rId4"/>
    <p:sldLayoutId id="2147485214" r:id="rId5"/>
    <p:sldLayoutId id="2147485215" r:id="rId6"/>
    <p:sldLayoutId id="2147485216" r:id="rId7"/>
    <p:sldLayoutId id="2147485217" r:id="rId8"/>
    <p:sldLayoutId id="2147485218" r:id="rId9"/>
    <p:sldLayoutId id="2147485219" r:id="rId10"/>
    <p:sldLayoutId id="2147485220" r:id="rId11"/>
    <p:sldLayoutId id="2147485221" r:id="rId12"/>
    <p:sldLayoutId id="2147485222" r:id="rId13"/>
    <p:sldLayoutId id="2147485223" r:id="rId14"/>
    <p:sldLayoutId id="2147485224" r:id="rId15"/>
    <p:sldLayoutId id="2147485225" r:id="rId16"/>
    <p:sldLayoutId id="2147485226" r:id="rId17"/>
    <p:sldLayoutId id="2147485227" r:id="rId18"/>
    <p:sldLayoutId id="2147485228" r:id="rId19"/>
    <p:sldLayoutId id="2147485229" r:id="rId20"/>
    <p:sldLayoutId id="2147485230" r:id="rId21"/>
    <p:sldLayoutId id="2147485231" r:id="rId22"/>
    <p:sldLayoutId id="2147485232" r:id="rId23"/>
    <p:sldLayoutId id="2147485233" r:id="rId24"/>
    <p:sldLayoutId id="2147485234" r:id="rId25"/>
    <p:sldLayoutId id="2147485235" r:id="rId26"/>
    <p:sldLayoutId id="2147485236" r:id="rId27"/>
    <p:sldLayoutId id="2147485237" r:id="rId28"/>
    <p:sldLayoutId id="2147485238" r:id="rId29"/>
    <p:sldLayoutId id="2147485239" r:id="rId30"/>
    <p:sldLayoutId id="2147485240" r:id="rId31"/>
    <p:sldLayoutId id="2147485241" r:id="rId32"/>
    <p:sldLayoutId id="2147485242" r:id="rId33"/>
    <p:sldLayoutId id="2147485243" r:id="rId34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669875ED-37D0-07F6-A48D-442246959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3488" y="3804757"/>
            <a:ext cx="8389383" cy="422923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r"/>
            <a:r>
              <a:rPr lang="en-US" sz="4400">
                <a:cs typeface="Segoe UI"/>
              </a:rPr>
              <a:t>Capitola C40 interlock between PAVS and G&amp;E</a:t>
            </a:r>
            <a:br>
              <a:rPr lang="en-US" sz="4400"/>
            </a:br>
            <a:r>
              <a:rPr lang="en-US" sz="1800">
                <a:cs typeface="Segoe UI"/>
              </a:rPr>
              <a:t>Version 1 on 6/18/2026</a:t>
            </a:r>
            <a:br>
              <a:rPr lang="en-US" noProof="0"/>
            </a:br>
            <a:r>
              <a:rPr lang="en-US" noProof="0">
                <a:cs typeface="Segoe U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906392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BB8001C-5678-2375-2B6A-DE335D5E50FE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C40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6EC13-4BBC-0DD6-A68C-30F780435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69"/>
            <a:ext cx="12192000" cy="674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13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E172-C2BC-321F-CC39-6E7FF4EE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AF6D18-AED8-F431-81E6-94D626B30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81649" cy="627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6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0B39-A09A-1676-958F-7BF55E8BE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D40A67-B500-8D5D-9006-0C4A2E93D41E}"/>
              </a:ext>
            </a:extLst>
          </p:cNvPr>
          <p:cNvSpPr/>
          <p:nvPr/>
        </p:nvSpPr>
        <p:spPr bwMode="auto">
          <a:xfrm>
            <a:off x="217811" y="1088136"/>
            <a:ext cx="5878189" cy="5431536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8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DF544-D748-F717-ADCE-396E694B6DAC}"/>
              </a:ext>
            </a:extLst>
          </p:cNvPr>
          <p:cNvSpPr txBox="1"/>
          <p:nvPr/>
        </p:nvSpPr>
        <p:spPr>
          <a:xfrm>
            <a:off x="347472" y="1185651"/>
            <a:ext cx="2807208" cy="36625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Target Applications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IVI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Low Level ADAS functions (AEB, ACC, Surround View)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Robotics (Cobots, Low end AMRs)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Industrial</a:t>
            </a:r>
          </a:p>
          <a:p>
            <a:pPr marL="799465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Operating Systems &amp; Safety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Linux: </a:t>
            </a:r>
            <a:r>
              <a:rPr lang="en-US" sz="1400" err="1">
                <a:latin typeface="+mj-lt"/>
              </a:rPr>
              <a:t>Yocto</a:t>
            </a:r>
            <a:r>
              <a:rPr lang="en-US" sz="1400">
                <a:latin typeface="+mj-lt"/>
              </a:rPr>
              <a:t>, Ubuntu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err="1">
                <a:latin typeface="+mj-lt"/>
              </a:rPr>
              <a:t>FreeRTOS</a:t>
            </a:r>
            <a:r>
              <a:rPr lang="en-US" sz="1400">
                <a:latin typeface="+mj-lt"/>
              </a:rPr>
              <a:t>: </a:t>
            </a:r>
          </a:p>
          <a:p>
            <a:pPr>
              <a:buClr>
                <a:schemeClr val="tx1"/>
              </a:buClr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Virtualization &amp; Isolation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Xen Hypervisor – Must have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VAS 3.0 (Includes Android Automotive)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VIS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F62DCA-2C61-45FA-74A2-B4DBD6AFAAF2}"/>
              </a:ext>
            </a:extLst>
          </p:cNvPr>
          <p:cNvSpPr txBox="1">
            <a:spLocks/>
          </p:cNvSpPr>
          <p:nvPr/>
        </p:nvSpPr>
        <p:spPr>
          <a:xfrm>
            <a:off x="112387" y="256050"/>
            <a:ext cx="11967226" cy="45863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1" kern="1200" cap="none" spc="0" baseline="0">
                <a:ln w="3175">
                  <a:noFill/>
                </a:ln>
                <a:solidFill>
                  <a:schemeClr val="accent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sz="2400">
                <a:solidFill>
                  <a:srgbClr val="FFFFFF"/>
                </a:solidFill>
                <a:latin typeface="Arial" panose="020B0604020202020204"/>
                <a:cs typeface="Calibri"/>
              </a:rPr>
              <a:t>High level requirements</a:t>
            </a:r>
            <a:endParaRPr kumimoji="0" lang="en-US" sz="2400" b="1" i="0" u="none" strike="noStrike" kern="1200" cap="none" spc="0" normalizeH="0" baseline="0" noProof="0">
              <a:ln w="3175"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2272C4-C8F0-2ACE-CCEC-BCEC48A0E6C3}"/>
              </a:ext>
            </a:extLst>
          </p:cNvPr>
          <p:cNvSpPr txBox="1"/>
          <p:nvPr/>
        </p:nvSpPr>
        <p:spPr>
          <a:xfrm>
            <a:off x="3494062" y="1196456"/>
            <a:ext cx="2426208" cy="4308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/>
              <a:t>Compute, Graphics &amp; Acceleration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/>
              <a:t>Vulkan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/>
              <a:t>OpenGL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/>
              <a:t>GPU / Heterogeneous Compute: </a:t>
            </a:r>
          </a:p>
          <a:p>
            <a:pPr marL="914384" lvl="2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/>
              <a:t>OpenCL, </a:t>
            </a:r>
            <a:r>
              <a:rPr lang="en-US" sz="1400" err="1"/>
              <a:t>ROCm</a:t>
            </a:r>
            <a:endParaRPr lang="en-US" sz="1400"/>
          </a:p>
          <a:p>
            <a:pPr marL="914384" lvl="2" indent="-3429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400"/>
              <a:t>HIP (CUDA → </a:t>
            </a:r>
            <a:r>
              <a:rPr lang="en-US" sz="1400" err="1"/>
              <a:t>ROCm</a:t>
            </a:r>
            <a:r>
              <a:rPr lang="en-US" sz="1400"/>
              <a:t> portability)</a:t>
            </a:r>
          </a:p>
          <a:p>
            <a:pPr>
              <a:buClr>
                <a:schemeClr val="tx1"/>
              </a:buClr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Perception &amp; Vision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OpenCV</a:t>
            </a:r>
          </a:p>
          <a:p>
            <a:pPr marL="342282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AI &amp; ML Frameworks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err="1">
                <a:latin typeface="+mj-lt"/>
              </a:rPr>
              <a:t>PyTorch</a:t>
            </a:r>
            <a:r>
              <a:rPr lang="en-US" sz="1400">
                <a:latin typeface="+mj-lt"/>
              </a:rPr>
              <a:t>, ONNX, TensorFlow</a:t>
            </a:r>
          </a:p>
          <a:p>
            <a:pPr marL="342282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400">
              <a:latin typeface="+mj-lt"/>
            </a:endParaRPr>
          </a:p>
          <a:p>
            <a:pPr>
              <a:buClr>
                <a:schemeClr val="tx1"/>
              </a:buClr>
            </a:pPr>
            <a:r>
              <a:rPr lang="en-US" sz="1400">
                <a:latin typeface="+mj-lt"/>
              </a:rPr>
              <a:t>Robotics Middleware &amp; Autonomy</a:t>
            </a:r>
          </a:p>
          <a:p>
            <a:pPr marL="4572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>
                <a:latin typeface="+mj-lt"/>
              </a:rPr>
              <a:t>ROS2, PX4, </a:t>
            </a:r>
            <a:r>
              <a:rPr lang="en-US" sz="1400" err="1">
                <a:latin typeface="+mj-lt"/>
              </a:rPr>
              <a:t>ArduPilot</a:t>
            </a:r>
            <a:endParaRPr lang="en-US" sz="140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D7636B-8586-7B71-5844-A1C3D9CE5CA8}"/>
              </a:ext>
            </a:extLst>
          </p:cNvPr>
          <p:cNvSpPr txBox="1"/>
          <p:nvPr/>
        </p:nvSpPr>
        <p:spPr>
          <a:xfrm>
            <a:off x="6326826" y="1185651"/>
            <a:ext cx="5423214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282" indent="-342900"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400"/>
              <a:t>SW Release Milestones</a:t>
            </a:r>
            <a:endParaRPr lang="en-US" sz="1400">
              <a:cs typeface="Arial" panose="020B0604020202020204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7D8D199-AC17-5014-3036-A0B6B3DD473D}"/>
              </a:ext>
            </a:extLst>
          </p:cNvPr>
          <p:cNvGraphicFramePr>
            <a:graphicFrameLocks/>
          </p:cNvGraphicFramePr>
          <p:nvPr/>
        </p:nvGraphicFramePr>
        <p:xfrm>
          <a:off x="6682740" y="1498610"/>
          <a:ext cx="5161788" cy="1536684"/>
        </p:xfrm>
        <a:graphic>
          <a:graphicData uri="http://schemas.openxmlformats.org/drawingml/2006/table">
            <a:tbl>
              <a:tblPr firstRow="1" bandRow="1"/>
              <a:tblGrid>
                <a:gridCol w="430149">
                  <a:extLst>
                    <a:ext uri="{9D8B030D-6E8A-4147-A177-3AD203B41FA5}">
                      <a16:colId xmlns:a16="http://schemas.microsoft.com/office/drawing/2014/main" val="3165700686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1539286681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2790425846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3281776713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3913593389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4281911204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3395564856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2149468267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3552788800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2039810728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964477181"/>
                    </a:ext>
                  </a:extLst>
                </a:gridCol>
                <a:gridCol w="430149">
                  <a:extLst>
                    <a:ext uri="{9D8B030D-6E8A-4147-A177-3AD203B41FA5}">
                      <a16:colId xmlns:a16="http://schemas.microsoft.com/office/drawing/2014/main" val="422407972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2027</a:t>
                      </a:r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2028</a:t>
                      </a:r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2029</a:t>
                      </a:r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497395"/>
                  </a:ext>
                </a:extLst>
              </a:tr>
              <a:tr h="14914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Q1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Q2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Q3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5D71">
                        <a:alpha val="5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Q4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Q1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Q2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Q3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Q4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Q1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Q2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Q3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Q4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34859"/>
                  </a:ext>
                </a:extLst>
              </a:tr>
              <a:tr h="98833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6">
                        <a:lumMod val="5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18658"/>
                  </a:ext>
                </a:extLst>
              </a:tr>
            </a:tbl>
          </a:graphicData>
        </a:graphic>
      </p:graphicFrame>
      <p:sp>
        <p:nvSpPr>
          <p:cNvPr id="13" name="Diamond 12">
            <a:extLst>
              <a:ext uri="{FF2B5EF4-FFF2-40B4-BE49-F238E27FC236}">
                <a16:creationId xmlns:a16="http://schemas.microsoft.com/office/drawing/2014/main" id="{5C718551-1EF6-47B9-2C4A-39DA9E04DF46}"/>
              </a:ext>
            </a:extLst>
          </p:cNvPr>
          <p:cNvSpPr/>
          <p:nvPr/>
        </p:nvSpPr>
        <p:spPr bwMode="auto">
          <a:xfrm>
            <a:off x="8716219" y="2184850"/>
            <a:ext cx="226183" cy="226183"/>
          </a:xfrm>
          <a:prstGeom prst="diamond">
            <a:avLst/>
          </a:prstGeom>
          <a:solidFill>
            <a:schemeClr val="accent6">
              <a:lumMod val="50000"/>
            </a:schemeClr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FD7924-A294-4391-F6E9-37A29A65E473}"/>
              </a:ext>
            </a:extLst>
          </p:cNvPr>
          <p:cNvSpPr txBox="1"/>
          <p:nvPr/>
        </p:nvSpPr>
        <p:spPr>
          <a:xfrm>
            <a:off x="8673885" y="2489125"/>
            <a:ext cx="31463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/>
              <a:t>BTO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57BBC793-BC78-313F-445F-E05F00ADE7E6}"/>
              </a:ext>
            </a:extLst>
          </p:cNvPr>
          <p:cNvSpPr/>
          <p:nvPr/>
        </p:nvSpPr>
        <p:spPr bwMode="auto">
          <a:xfrm>
            <a:off x="9593005" y="2181003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0312F1-0963-55C3-9555-8BAB0DBD8B16}"/>
              </a:ext>
            </a:extLst>
          </p:cNvPr>
          <p:cNvSpPr txBox="1"/>
          <p:nvPr/>
        </p:nvSpPr>
        <p:spPr>
          <a:xfrm>
            <a:off x="9510529" y="2462151"/>
            <a:ext cx="3911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/>
              <a:t>Alpha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8FFD608B-D07C-2249-1979-752C1CD9F0B9}"/>
              </a:ext>
            </a:extLst>
          </p:cNvPr>
          <p:cNvSpPr/>
          <p:nvPr/>
        </p:nvSpPr>
        <p:spPr bwMode="auto">
          <a:xfrm>
            <a:off x="10434104" y="2181002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583FCA-2EDA-AA65-49D5-477E89F8BFA2}"/>
              </a:ext>
            </a:extLst>
          </p:cNvPr>
          <p:cNvSpPr txBox="1"/>
          <p:nvPr/>
        </p:nvSpPr>
        <p:spPr>
          <a:xfrm>
            <a:off x="10412760" y="2462151"/>
            <a:ext cx="31579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/>
              <a:t>Beta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42C4D69E-583D-48D5-A977-BCDDD072B219}"/>
              </a:ext>
            </a:extLst>
          </p:cNvPr>
          <p:cNvSpPr/>
          <p:nvPr/>
        </p:nvSpPr>
        <p:spPr bwMode="auto">
          <a:xfrm>
            <a:off x="11290254" y="2182614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EC3648-8619-9B04-F3B9-8B266F8746B2}"/>
              </a:ext>
            </a:extLst>
          </p:cNvPr>
          <p:cNvSpPr txBox="1"/>
          <p:nvPr/>
        </p:nvSpPr>
        <p:spPr>
          <a:xfrm>
            <a:off x="11220634" y="2435771"/>
            <a:ext cx="41197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buClr>
                <a:schemeClr val="accent1"/>
              </a:buClr>
              <a:buSzPct val="60000"/>
            </a:pPr>
            <a:r>
              <a:rPr lang="en-US" sz="1200"/>
              <a:t>IP/GA</a:t>
            </a:r>
          </a:p>
        </p:txBody>
      </p:sp>
    </p:spTree>
    <p:extLst>
      <p:ext uri="{BB962C8B-B14F-4D97-AF65-F5344CB8AC3E}">
        <p14:creationId xmlns:p14="http://schemas.microsoft.com/office/powerpoint/2010/main" val="2022072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3D53-2FB2-DE31-05DB-6CE36A9C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50F1F8-DF67-69F4-85AC-DC54C28E92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6585397"/>
              </p:ext>
            </p:extLst>
          </p:nvPr>
        </p:nvGraphicFramePr>
        <p:xfrm>
          <a:off x="1107863" y="702149"/>
          <a:ext cx="10830938" cy="5890379"/>
        </p:xfrm>
        <a:graphic>
          <a:graphicData uri="http://schemas.openxmlformats.org/drawingml/2006/table">
            <a:tbl>
              <a:tblPr firstRow="1" bandRow="1"/>
              <a:tblGrid>
                <a:gridCol w="451289">
                  <a:extLst>
                    <a:ext uri="{9D8B030D-6E8A-4147-A177-3AD203B41FA5}">
                      <a16:colId xmlns:a16="http://schemas.microsoft.com/office/drawing/2014/main" val="1260649562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757413014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2099048853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3707701069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3034066339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2394775003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973032792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2860332093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901735148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4220935897"/>
                    </a:ext>
                  </a:extLst>
                </a:gridCol>
                <a:gridCol w="522195">
                  <a:extLst>
                    <a:ext uri="{9D8B030D-6E8A-4147-A177-3AD203B41FA5}">
                      <a16:colId xmlns:a16="http://schemas.microsoft.com/office/drawing/2014/main" val="2942560297"/>
                    </a:ext>
                  </a:extLst>
                </a:gridCol>
                <a:gridCol w="380383">
                  <a:extLst>
                    <a:ext uri="{9D8B030D-6E8A-4147-A177-3AD203B41FA5}">
                      <a16:colId xmlns:a16="http://schemas.microsoft.com/office/drawing/2014/main" val="2121555547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3674061294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1205063987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1129611618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3997036128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752049545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2277091682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1638817848"/>
                    </a:ext>
                  </a:extLst>
                </a:gridCol>
                <a:gridCol w="403161">
                  <a:extLst>
                    <a:ext uri="{9D8B030D-6E8A-4147-A177-3AD203B41FA5}">
                      <a16:colId xmlns:a16="http://schemas.microsoft.com/office/drawing/2014/main" val="3106861551"/>
                    </a:ext>
                  </a:extLst>
                </a:gridCol>
                <a:gridCol w="499419">
                  <a:extLst>
                    <a:ext uri="{9D8B030D-6E8A-4147-A177-3AD203B41FA5}">
                      <a16:colId xmlns:a16="http://schemas.microsoft.com/office/drawing/2014/main" val="969714463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878672452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984167028"/>
                    </a:ext>
                  </a:extLst>
                </a:gridCol>
                <a:gridCol w="451289">
                  <a:extLst>
                    <a:ext uri="{9D8B030D-6E8A-4147-A177-3AD203B41FA5}">
                      <a16:colId xmlns:a16="http://schemas.microsoft.com/office/drawing/2014/main" val="4185226430"/>
                    </a:ext>
                  </a:extLst>
                </a:gridCol>
              </a:tblGrid>
              <a:tr h="403210">
                <a:tc gridSpan="1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2028</a:t>
                      </a:r>
                    </a:p>
                  </a:txBody>
                  <a:tcPr marL="91294" marR="91294" marT="45648" marB="45648"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endParaRPr/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2024</a:t>
                      </a:r>
                    </a:p>
                  </a:txBody>
                  <a:tcPr marL="91342" marR="91342" marT="45672" marB="4567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AA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2029</a:t>
                      </a:r>
                    </a:p>
                  </a:txBody>
                  <a:tcPr marL="91294" marR="91294" marT="45648" marB="45648"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1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497395"/>
                  </a:ext>
                </a:extLst>
              </a:tr>
              <a:tr h="508396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Q1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Jan   Feb   Mar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Q2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Apr   May   Jun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Q3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Jul   Aug   Sept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Q4</a:t>
                      </a:r>
                    </a:p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Oct   Nov   Dec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Q1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Jan   Feb   Mar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Q2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Apr   May   Jun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Q3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Jul   Aug   Sept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Klavika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Q4</a:t>
                      </a:r>
                    </a:p>
                    <a:p>
                      <a:pPr marL="0" marR="0" lvl="0" indent="0" algn="ctr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Calibri"/>
                        </a:rPr>
                        <a:t>Oct   Nov   Dec</a:t>
                      </a:r>
                    </a:p>
                  </a:txBody>
                  <a:tcPr marL="91294" marR="91294" marT="45648" marB="45648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007C97">
                        <a:lumMod val="75000"/>
                        <a:alpha val="5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34859"/>
                  </a:ext>
                </a:extLst>
              </a:tr>
              <a:tr h="49787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algn="ctr" defTabSz="914126" rtl="0" eaLnBrk="1" latinLnBrk="0" hangingPunct="1">
                        <a:buNone/>
                      </a:pPr>
                      <a:endParaRPr lang="en-US" sz="900" b="1" kern="120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algn="ctr" defTabSz="914126" rtl="0" eaLnBrk="1" latinLnBrk="0" hangingPunct="1">
                        <a:buNone/>
                      </a:pPr>
                      <a:endParaRPr lang="en-US" sz="900" b="1" kern="120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algn="ctr" defTabSz="914126" rtl="0" eaLnBrk="1" latinLnBrk="0" hangingPunct="1">
                        <a:buNone/>
                      </a:pPr>
                      <a:endParaRPr lang="en-US" sz="900" b="1" kern="120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latin typeface="Calibri"/>
                        <a:cs typeface="Calibri"/>
                      </a:endParaRPr>
                    </a:p>
                  </a:txBody>
                  <a:tcPr marL="91294" marR="91294" marT="45648" marB="45648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50000"/>
                        <a:lumOff val="5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734125"/>
                  </a:ext>
                </a:extLst>
              </a:tr>
            </a:tbl>
          </a:graphicData>
        </a:graphic>
      </p:graphicFrame>
      <p:sp>
        <p:nvSpPr>
          <p:cNvPr id="230" name="TextBox 229">
            <a:extLst>
              <a:ext uri="{FF2B5EF4-FFF2-40B4-BE49-F238E27FC236}">
                <a16:creationId xmlns:a16="http://schemas.microsoft.com/office/drawing/2014/main" id="{C9F9412F-84BB-44E9-E462-428DA6A431BB}"/>
              </a:ext>
            </a:extLst>
          </p:cNvPr>
          <p:cNvSpPr txBox="1"/>
          <p:nvPr/>
        </p:nvSpPr>
        <p:spPr>
          <a:xfrm>
            <a:off x="155711" y="1951582"/>
            <a:ext cx="108449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G&amp;E SW Release plan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000A610-CFFE-3C14-481D-4E57022DC0E5}"/>
              </a:ext>
            </a:extLst>
          </p:cNvPr>
          <p:cNvSpPr txBox="1">
            <a:spLocks/>
          </p:cNvSpPr>
          <p:nvPr/>
        </p:nvSpPr>
        <p:spPr>
          <a:xfrm>
            <a:off x="465" y="257589"/>
            <a:ext cx="11967226" cy="47434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1" kern="1200" cap="none" spc="0" baseline="0">
                <a:ln w="3175">
                  <a:noFill/>
                </a:ln>
                <a:solidFill>
                  <a:schemeClr val="accent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Release </a:t>
            </a:r>
            <a:r>
              <a:rPr kumimoji="0" lang="en-US" sz="2800" b="1" i="0" u="non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Calibri"/>
              </a:rPr>
              <a:t>Plan – Capitola C40</a:t>
            </a:r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C4BFEAFE-C2F8-B998-8229-EDFCABF13127}"/>
              </a:ext>
            </a:extLst>
          </p:cNvPr>
          <p:cNvCxnSpPr>
            <a:cxnSpLocks/>
          </p:cNvCxnSpPr>
          <p:nvPr/>
        </p:nvCxnSpPr>
        <p:spPr>
          <a:xfrm>
            <a:off x="1095253" y="2141397"/>
            <a:ext cx="10923401" cy="10865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253" name="Diamond 252">
            <a:extLst>
              <a:ext uri="{FF2B5EF4-FFF2-40B4-BE49-F238E27FC236}">
                <a16:creationId xmlns:a16="http://schemas.microsoft.com/office/drawing/2014/main" id="{0D2995ED-DB0B-8F25-2378-5F8D4AEE4529}"/>
              </a:ext>
            </a:extLst>
          </p:cNvPr>
          <p:cNvSpPr/>
          <p:nvPr/>
        </p:nvSpPr>
        <p:spPr bwMode="auto">
          <a:xfrm>
            <a:off x="6410141" y="2044022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254" name="Diamond 253">
            <a:extLst>
              <a:ext uri="{FF2B5EF4-FFF2-40B4-BE49-F238E27FC236}">
                <a16:creationId xmlns:a16="http://schemas.microsoft.com/office/drawing/2014/main" id="{B63314F7-8D06-DFD5-9B22-50ED1596C1D3}"/>
              </a:ext>
            </a:extLst>
          </p:cNvPr>
          <p:cNvSpPr/>
          <p:nvPr/>
        </p:nvSpPr>
        <p:spPr bwMode="auto">
          <a:xfrm>
            <a:off x="7765604" y="2010934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26" name="Diamond 325">
            <a:extLst>
              <a:ext uri="{FF2B5EF4-FFF2-40B4-BE49-F238E27FC236}">
                <a16:creationId xmlns:a16="http://schemas.microsoft.com/office/drawing/2014/main" id="{79D7DEE8-FCED-99B0-E4F0-1220DF77805C}"/>
              </a:ext>
            </a:extLst>
          </p:cNvPr>
          <p:cNvSpPr/>
          <p:nvPr/>
        </p:nvSpPr>
        <p:spPr bwMode="auto">
          <a:xfrm>
            <a:off x="9130376" y="2040979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44" name="Diamond 343">
            <a:extLst>
              <a:ext uri="{FF2B5EF4-FFF2-40B4-BE49-F238E27FC236}">
                <a16:creationId xmlns:a16="http://schemas.microsoft.com/office/drawing/2014/main" id="{A39AA451-5AE4-EEBF-35D4-D30FB5DD0BCB}"/>
              </a:ext>
            </a:extLst>
          </p:cNvPr>
          <p:cNvSpPr/>
          <p:nvPr/>
        </p:nvSpPr>
        <p:spPr bwMode="auto">
          <a:xfrm>
            <a:off x="5064374" y="2015401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4E1A8ED2-D8C7-CF13-E7C9-6A522DA5261D}"/>
              </a:ext>
            </a:extLst>
          </p:cNvPr>
          <p:cNvSpPr txBox="1"/>
          <p:nvPr/>
        </p:nvSpPr>
        <p:spPr>
          <a:xfrm>
            <a:off x="6391211" y="1749001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R2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294A35AE-7675-A466-7BD8-880D0A21D18D}"/>
              </a:ext>
            </a:extLst>
          </p:cNvPr>
          <p:cNvSpPr txBox="1"/>
          <p:nvPr/>
        </p:nvSpPr>
        <p:spPr>
          <a:xfrm>
            <a:off x="5029938" y="1770277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7F6780A4-4D58-AB20-57F4-5D2C771BFBCE}"/>
              </a:ext>
            </a:extLst>
          </p:cNvPr>
          <p:cNvSpPr txBox="1"/>
          <p:nvPr/>
        </p:nvSpPr>
        <p:spPr>
          <a:xfrm>
            <a:off x="7779393" y="1763558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R3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8F07F2BD-B26E-EB3E-4A8F-0571AD2C2468}"/>
              </a:ext>
            </a:extLst>
          </p:cNvPr>
          <p:cNvSpPr txBox="1"/>
          <p:nvPr/>
        </p:nvSpPr>
        <p:spPr>
          <a:xfrm>
            <a:off x="9001846" y="1768427"/>
            <a:ext cx="29811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R4</a:t>
            </a:r>
          </a:p>
        </p:txBody>
      </p:sp>
      <p:sp>
        <p:nvSpPr>
          <p:cNvPr id="364" name="Diamond 363">
            <a:extLst>
              <a:ext uri="{FF2B5EF4-FFF2-40B4-BE49-F238E27FC236}">
                <a16:creationId xmlns:a16="http://schemas.microsoft.com/office/drawing/2014/main" id="{CD8719BC-F286-F723-2963-9EA827EC8447}"/>
              </a:ext>
            </a:extLst>
          </p:cNvPr>
          <p:cNvSpPr/>
          <p:nvPr/>
        </p:nvSpPr>
        <p:spPr bwMode="auto">
          <a:xfrm>
            <a:off x="12770585" y="2040979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D2F76AE6-2F13-6BC0-3FE9-91B9607A5EB0}"/>
              </a:ext>
            </a:extLst>
          </p:cNvPr>
          <p:cNvSpPr txBox="1"/>
          <p:nvPr/>
        </p:nvSpPr>
        <p:spPr>
          <a:xfrm>
            <a:off x="12630972" y="1806596"/>
            <a:ext cx="4686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R8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F25D0A-75EA-6795-4557-2DF1897D3C8A}"/>
              </a:ext>
            </a:extLst>
          </p:cNvPr>
          <p:cNvCxnSpPr>
            <a:cxnSpLocks/>
          </p:cNvCxnSpPr>
          <p:nvPr/>
        </p:nvCxnSpPr>
        <p:spPr>
          <a:xfrm>
            <a:off x="1414914" y="3539727"/>
            <a:ext cx="10603732" cy="6159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headEnd type="none" w="lg" len="med"/>
            <a:tailEnd type="none" w="lg" len="med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057F1FA-9FCC-6198-31C1-AE216AECE247}"/>
              </a:ext>
            </a:extLst>
          </p:cNvPr>
          <p:cNvSpPr txBox="1"/>
          <p:nvPr/>
        </p:nvSpPr>
        <p:spPr>
          <a:xfrm>
            <a:off x="469111" y="3324284"/>
            <a:ext cx="108449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466"/>
              </a:buClr>
              <a:buSzPct val="6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PAVS Release plan</a:t>
            </a:r>
          </a:p>
        </p:txBody>
      </p:sp>
      <p:sp>
        <p:nvSpPr>
          <p:cNvPr id="63" name="Diamond 62">
            <a:extLst>
              <a:ext uri="{FF2B5EF4-FFF2-40B4-BE49-F238E27FC236}">
                <a16:creationId xmlns:a16="http://schemas.microsoft.com/office/drawing/2014/main" id="{76875410-A856-4EAD-C522-127387EF9377}"/>
              </a:ext>
            </a:extLst>
          </p:cNvPr>
          <p:cNvSpPr/>
          <p:nvPr/>
        </p:nvSpPr>
        <p:spPr bwMode="auto">
          <a:xfrm>
            <a:off x="7766130" y="3408701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2" name="Diamond 191">
            <a:extLst>
              <a:ext uri="{FF2B5EF4-FFF2-40B4-BE49-F238E27FC236}">
                <a16:creationId xmlns:a16="http://schemas.microsoft.com/office/drawing/2014/main" id="{8C8696BD-E1FF-7D78-534B-437854C7E7E1}"/>
              </a:ext>
            </a:extLst>
          </p:cNvPr>
          <p:cNvSpPr/>
          <p:nvPr/>
        </p:nvSpPr>
        <p:spPr bwMode="auto">
          <a:xfrm>
            <a:off x="9146026" y="3396751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3" name="Diamond 192">
            <a:extLst>
              <a:ext uri="{FF2B5EF4-FFF2-40B4-BE49-F238E27FC236}">
                <a16:creationId xmlns:a16="http://schemas.microsoft.com/office/drawing/2014/main" id="{B1F8237F-2385-A89C-F662-7FFC9EFD9D36}"/>
              </a:ext>
            </a:extLst>
          </p:cNvPr>
          <p:cNvSpPr/>
          <p:nvPr/>
        </p:nvSpPr>
        <p:spPr bwMode="auto">
          <a:xfrm>
            <a:off x="10363920" y="3396152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8" name="Diamond 197">
            <a:extLst>
              <a:ext uri="{FF2B5EF4-FFF2-40B4-BE49-F238E27FC236}">
                <a16:creationId xmlns:a16="http://schemas.microsoft.com/office/drawing/2014/main" id="{5E8CDA1F-6BA9-BD2A-5547-098DBC71336B}"/>
              </a:ext>
            </a:extLst>
          </p:cNvPr>
          <p:cNvSpPr/>
          <p:nvPr/>
        </p:nvSpPr>
        <p:spPr bwMode="auto">
          <a:xfrm>
            <a:off x="6403662" y="3410989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47E4368-83CC-7F05-7805-5C21DA986E9E}"/>
              </a:ext>
            </a:extLst>
          </p:cNvPr>
          <p:cNvSpPr txBox="1"/>
          <p:nvPr/>
        </p:nvSpPr>
        <p:spPr>
          <a:xfrm>
            <a:off x="7666416" y="3123454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R2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2C6854B-0333-C4D2-D787-9221FD3A0A91}"/>
              </a:ext>
            </a:extLst>
          </p:cNvPr>
          <p:cNvSpPr txBox="1"/>
          <p:nvPr/>
        </p:nvSpPr>
        <p:spPr>
          <a:xfrm>
            <a:off x="6369226" y="3165865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A0E417F8-A303-FA5E-9936-F670EED57719}"/>
              </a:ext>
            </a:extLst>
          </p:cNvPr>
          <p:cNvSpPr txBox="1"/>
          <p:nvPr/>
        </p:nvSpPr>
        <p:spPr>
          <a:xfrm>
            <a:off x="9135539" y="3149375"/>
            <a:ext cx="2366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R3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0509F73-EB47-DCBB-480D-FAB7C7ACA448}"/>
              </a:ext>
            </a:extLst>
          </p:cNvPr>
          <p:cNvSpPr txBox="1"/>
          <p:nvPr/>
        </p:nvSpPr>
        <p:spPr>
          <a:xfrm>
            <a:off x="10327952" y="2968075"/>
            <a:ext cx="29811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R4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rgbClr val="FFFFFF"/>
                </a:solidFill>
                <a:latin typeface="Arial" panose="020B0604020202020204"/>
              </a:rPr>
              <a:t>GA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7" name="Diamond 206">
            <a:extLst>
              <a:ext uri="{FF2B5EF4-FFF2-40B4-BE49-F238E27FC236}">
                <a16:creationId xmlns:a16="http://schemas.microsoft.com/office/drawing/2014/main" id="{DE825852-2E2C-41B1-8349-C49F4D2589F9}"/>
              </a:ext>
            </a:extLst>
          </p:cNvPr>
          <p:cNvSpPr/>
          <p:nvPr/>
        </p:nvSpPr>
        <p:spPr bwMode="auto">
          <a:xfrm>
            <a:off x="12983383" y="2805391"/>
            <a:ext cx="226183" cy="226183"/>
          </a:xfrm>
          <a:prstGeom prst="diamond">
            <a:avLst/>
          </a:prstGeom>
          <a:solidFill>
            <a:srgbClr val="00B050"/>
          </a:solidFill>
          <a:ln w="25400" algn="ctr">
            <a:solidFill>
              <a:srgbClr val="FFFFFF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45582" rIns="0" bIns="45582" anchor="ctr"/>
          <a:lstStyle/>
          <a:p>
            <a:pPr marL="1588" marR="0" lvl="0" indent="-1588" algn="ctr" defTabSz="9101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4C8122F-C801-A36A-AFA0-92802572F6FE}"/>
              </a:ext>
            </a:extLst>
          </p:cNvPr>
          <p:cNvSpPr txBox="1"/>
          <p:nvPr/>
        </p:nvSpPr>
        <p:spPr>
          <a:xfrm>
            <a:off x="12843770" y="2571008"/>
            <a:ext cx="46864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DB01AA-D1E8-E180-0C66-2C2936EC7F89}"/>
              </a:ext>
            </a:extLst>
          </p:cNvPr>
          <p:cNvSpPr txBox="1"/>
          <p:nvPr/>
        </p:nvSpPr>
        <p:spPr>
          <a:xfrm>
            <a:off x="9004973" y="3704402"/>
            <a:ext cx="949405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Clr>
                <a:schemeClr val="accent1"/>
              </a:buClr>
              <a:buSzPct val="60000"/>
            </a:pPr>
            <a:r>
              <a:rPr lang="en-US" sz="900" err="1"/>
              <a:t>ROCm</a:t>
            </a:r>
            <a:r>
              <a:rPr lang="en-US" sz="900"/>
              <a:t> features (heap, runtime, lib </a:t>
            </a:r>
            <a:r>
              <a:rPr lang="en-US" sz="900" err="1"/>
              <a:t>etc</a:t>
            </a:r>
            <a:r>
              <a:rPr lang="en-US" sz="900"/>
              <a:t>)</a:t>
            </a:r>
          </a:p>
          <a:p>
            <a:pPr algn="l">
              <a:buClr>
                <a:schemeClr val="accent1"/>
              </a:buClr>
              <a:buSzPct val="60000"/>
            </a:pPr>
            <a:endParaRPr lang="en-US" sz="1100"/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1CAED9DF-F43E-A74F-7CDB-0C45DD2EF76F}"/>
              </a:ext>
            </a:extLst>
          </p:cNvPr>
          <p:cNvCxnSpPr>
            <a:cxnSpLocks/>
            <a:stCxn id="364" idx="2"/>
          </p:cNvCxnSpPr>
          <p:nvPr/>
        </p:nvCxnSpPr>
        <p:spPr>
          <a:xfrm>
            <a:off x="12883677" y="2267162"/>
            <a:ext cx="759716" cy="128126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39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7F61-8EF8-71F3-487B-4D628220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A9356-8C44-D5E6-0C11-D936F6FB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50" y="199473"/>
            <a:ext cx="10426875" cy="474345"/>
          </a:xfrm>
        </p:spPr>
        <p:txBody>
          <a:bodyPr/>
          <a:lstStyle/>
          <a:p>
            <a:r>
              <a:rPr lang="en-US"/>
              <a:t>IVI – Ownership (1/2)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334317-A5EB-738F-6B4F-6D036199C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573846"/>
              </p:ext>
            </p:extLst>
          </p:nvPr>
        </p:nvGraphicFramePr>
        <p:xfrm>
          <a:off x="305704" y="752477"/>
          <a:ext cx="11650320" cy="5215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341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5583090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1861260">
                  <a:extLst>
                    <a:ext uri="{9D8B030D-6E8A-4147-A177-3AD203B41FA5}">
                      <a16:colId xmlns:a16="http://schemas.microsoft.com/office/drawing/2014/main" val="3875864756"/>
                    </a:ext>
                  </a:extLst>
                </a:gridCol>
                <a:gridCol w="2418629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257373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257373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OS/VMs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Yocto Dom0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03590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AAOS VM, </a:t>
                      </a: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FreeRTOS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(Control Domain, </a:t>
                      </a:r>
                      <a:r>
                        <a:rPr lang="en-US" sz="1400" b="0" i="0" kern="12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 layer Renderer )</a:t>
                      </a:r>
                      <a:endParaRPr lang="en-US" sz="140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833291"/>
                  </a:ext>
                </a:extLst>
              </a:tr>
              <a:tr h="2573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AAOS – EAP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AAOS – EAP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459146"/>
                  </a:ext>
                </a:extLst>
              </a:tr>
              <a:tr h="257373">
                <a:tc rowSpan="5">
                  <a:txBody>
                    <a:bodyPr/>
                    <a:lstStyle/>
                    <a:p>
                      <a:pPr algn="l"/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Xen Hypervisor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Xen BSP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AECG (Stephano)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346550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Xen Boot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621201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InterVM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 communication: </a:t>
                      </a: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virtio-vsock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, </a:t>
                      </a: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vitio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-msg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38767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Device Virtualization – Graphics, Multimedia, Display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B0F0"/>
                          </a:solidFill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979139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Device Virtualization: Camera, Audio, IO, Ethernet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071694"/>
                  </a:ext>
                </a:extLst>
              </a:tr>
              <a:tr h="257373">
                <a:tc rowSpan="4">
                  <a:txBody>
                    <a:bodyPr/>
                    <a:lstStyle/>
                    <a:p>
                      <a:pPr algn="l"/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Graphics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GPU driver (</a:t>
                      </a:r>
                      <a:r>
                        <a:rPr lang="en-US" sz="1400" b="0" i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amdgpu</a:t>
                      </a:r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59619"/>
                  </a:ext>
                </a:extLst>
              </a:tr>
              <a:tr h="338666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Display Driver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69400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Android display HAL, Codec2 HAL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G&amp;E ATG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865562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Multi-Media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543731"/>
                  </a:ext>
                </a:extLst>
              </a:tr>
              <a:tr h="257373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Camera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MIPI-CSI driver, ISP driver, tuning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SSW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615368"/>
                  </a:ext>
                </a:extLst>
              </a:tr>
              <a:tr h="25737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Camera Virtualization, 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RVC, SVC/360 view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5071"/>
                  </a:ext>
                </a:extLst>
              </a:tr>
              <a:tr h="25737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Audio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Audio HALs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851031"/>
                  </a:ext>
                </a:extLst>
              </a:tr>
              <a:tr h="25737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VAS in Cloud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VAS in Cloud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7224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6B936F-F275-EE53-8326-7BD10A0A078B}"/>
              </a:ext>
            </a:extLst>
          </p:cNvPr>
          <p:cNvSpPr txBox="1"/>
          <p:nvPr/>
        </p:nvSpPr>
        <p:spPr>
          <a:xfrm>
            <a:off x="10579813" y="6317536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1321062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A9718-A98F-A9E6-E55C-838E4DA0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86C1-FB1D-4174-3BCD-A0695011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47" y="169976"/>
            <a:ext cx="10426875" cy="474345"/>
          </a:xfrm>
        </p:spPr>
        <p:txBody>
          <a:bodyPr/>
          <a:lstStyle/>
          <a:p>
            <a:r>
              <a:rPr lang="en-US"/>
              <a:t>IVI – Ownership (2/2)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16FCA4-D020-4753-03D2-3EED3E1A6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02738"/>
              </p:ext>
            </p:extLst>
          </p:nvPr>
        </p:nvGraphicFramePr>
        <p:xfrm>
          <a:off x="227047" y="644321"/>
          <a:ext cx="11308940" cy="474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968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4995747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2319453">
                  <a:extLst>
                    <a:ext uri="{9D8B030D-6E8A-4147-A177-3AD203B41FA5}">
                      <a16:colId xmlns:a16="http://schemas.microsoft.com/office/drawing/2014/main" val="3875864756"/>
                    </a:ext>
                  </a:extLst>
                </a:gridCol>
                <a:gridCol w="2258772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Security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Secure boot for BIOS/Firmware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3916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</a:rPr>
                        <a:t>Secure boot till DOMU/Android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6445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WVL1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9002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Debug &amp; recovery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GFX/VCN/DCN/SDMA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detect and recovery in virtualization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5961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Xen crash detect and recovery in virtualization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AECG (Stefano)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4694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Unified Debugger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AECG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37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VAS documentation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GPU subsystem: Graphics, Video, Display, WVL1 etc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86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 b="0" i="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Audio, IO’s, Camera, Input, Android (except GFX/MM), boot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54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PhysicalAI SDK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 b="0" i="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 </a:t>
                      </a: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PhysicalAI SDK</a:t>
                      </a:r>
                      <a:endParaRPr lang="en-US" sz="1400" b="0" i="0" kern="12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81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Audio SDK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 </a:t>
                      </a: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Audio SDK</a:t>
                      </a:r>
                      <a:endParaRPr lang="en-US" sz="1400" b="0" i="0" kern="120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36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Integration, Use-case, KPIs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IVI IDK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67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0B7049E-3349-D721-C82E-FE3C93077432}"/>
              </a:ext>
            </a:extLst>
          </p:cNvPr>
          <p:cNvSpPr txBox="1"/>
          <p:nvPr/>
        </p:nvSpPr>
        <p:spPr>
          <a:xfrm>
            <a:off x="10159776" y="5260969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1445304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F410-2193-0986-85B1-2A1DD4A0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E1584-44D8-F24E-149C-A7D6FF33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47" y="191705"/>
            <a:ext cx="10426875" cy="430887"/>
          </a:xfrm>
        </p:spPr>
        <p:txBody>
          <a:bodyPr/>
          <a:lstStyle/>
          <a:p>
            <a:r>
              <a:rPr lang="en-US"/>
              <a:t>Industrial – Ownership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C4E5D3-B7CB-93AE-BE0F-604B3A19A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986915"/>
              </p:ext>
            </p:extLst>
          </p:nvPr>
        </p:nvGraphicFramePr>
        <p:xfrm>
          <a:off x="227047" y="851055"/>
          <a:ext cx="1130894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968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4995747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2319453">
                  <a:extLst>
                    <a:ext uri="{9D8B030D-6E8A-4147-A177-3AD203B41FA5}">
                      <a16:colId xmlns:a16="http://schemas.microsoft.com/office/drawing/2014/main" val="3875864756"/>
                    </a:ext>
                  </a:extLst>
                </a:gridCol>
                <a:gridCol w="2258772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OS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Windows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391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Virtualization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Windows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  <a:latin typeface="+mn-lt"/>
                        </a:rPr>
                        <a:t>DomU</a:t>
                      </a:r>
                      <a:endParaRPr lang="en-US" sz="140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00B0F0"/>
                          </a:solidFill>
                          <a:latin typeface="+mn-lt"/>
                        </a:rPr>
                        <a:t>G&amp;E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5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Realtime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</a:rPr>
                        <a:t>Xen + </a:t>
                      </a:r>
                      <a:r>
                        <a:rPr lang="en-US" sz="140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</a:rPr>
                        <a:t>realtime</a:t>
                      </a:r>
                      <a:r>
                        <a:rPr lang="en-US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+mn-lt"/>
                        </a:rPr>
                        <a:t>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+mn-lt"/>
                        </a:rPr>
                        <a:t>PAVS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08709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728A52-71F4-B3E9-C0FF-54BEC4159A82}"/>
              </a:ext>
            </a:extLst>
          </p:cNvPr>
          <p:cNvSpPr txBox="1"/>
          <p:nvPr/>
        </p:nvSpPr>
        <p:spPr>
          <a:xfrm>
            <a:off x="10159776" y="5260969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500654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7DBC-E015-D861-4BB2-3FC7DAFA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883D-63C1-5808-9C2A-34D2DCD6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Physical AI SDK - Ownership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252EB7-FAFD-96E4-3261-CFCE13BAD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49240"/>
              </p:ext>
            </p:extLst>
          </p:nvPr>
        </p:nvGraphicFramePr>
        <p:xfrm>
          <a:off x="305704" y="895351"/>
          <a:ext cx="11746089" cy="5567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736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1242940">
                  <a:extLst>
                    <a:ext uri="{9D8B030D-6E8A-4147-A177-3AD203B41FA5}">
                      <a16:colId xmlns:a16="http://schemas.microsoft.com/office/drawing/2014/main" val="2119413901"/>
                    </a:ext>
                  </a:extLst>
                </a:gridCol>
                <a:gridCol w="4590933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218681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520965">
                <a:tc rowSpan="2"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ROCm</a:t>
                      </a:r>
                      <a:endParaRPr lang="en-GB" sz="120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ROCm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 support in bare-metal stack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AIG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AIG enables in baremetal with latest kernel.</a:t>
                      </a: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ASIL-B requirement on ROCm stack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391654"/>
                  </a:ext>
                </a:extLst>
              </a:tr>
              <a:tr h="2856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ROCm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 support in virtualized stack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AIG + </a:t>
                      </a:r>
                      <a:r>
                        <a:rPr lang="en-US" sz="1200">
                          <a:solidFill>
                            <a:srgbClr val="00B0F0"/>
                          </a:solidFill>
                        </a:rPr>
                        <a:t>G&amp;E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G&amp;E enables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virtio-gpu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AIG enables higher layers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290868"/>
                  </a:ext>
                </a:extLst>
              </a:tr>
              <a:tr h="3717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LTS OS and Kernel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ROCm enablement on LTS OS kernel and LTS kernel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261953"/>
                  </a:ext>
                </a:extLst>
              </a:tr>
              <a:tr h="3717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Frameworks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PyTorch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ONNXRT,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vLLM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lamma.cpp, Lemonade,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fast.llm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ncnn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…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178319"/>
                  </a:ext>
                </a:extLst>
              </a:tr>
              <a:tr h="3717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Model enablement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Model enablement and optimization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238093"/>
                  </a:ext>
                </a:extLst>
              </a:tr>
              <a:tr h="168546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Use-case development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Use-case pipeline development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73358"/>
                  </a:ext>
                </a:extLst>
              </a:tr>
              <a:tr h="984065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Audio Use Cases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Audio generation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Ambient Noise Classification and Sensory awareness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Person Detection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Speech recognition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Voice Assistant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60591"/>
                  </a:ext>
                </a:extLst>
              </a:tr>
              <a:tr h="2186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Benchmarking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AI model benchmarking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892994"/>
                  </a:ext>
                </a:extLst>
              </a:tr>
              <a:tr h="67791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OOB experience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Build and packaging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Dockers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Scripts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Documentation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03590"/>
                  </a:ext>
                </a:extLst>
              </a:tr>
              <a:tr h="371758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 safety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Open – What implication does it have on Physical AI SDK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Foundation EPD + AIG + </a:t>
                      </a:r>
                      <a:r>
                        <a:rPr lang="en-US" sz="1200">
                          <a:solidFill>
                            <a:srgbClr val="00B0F0"/>
                          </a:solidFill>
                        </a:rPr>
                        <a:t>G&amp;E 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+ 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2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Functional safety requirement needs to be studied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3458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756CD89-6379-D520-3E80-FB5AC6BE705F}"/>
              </a:ext>
            </a:extLst>
          </p:cNvPr>
          <p:cNvSpPr txBox="1"/>
          <p:nvPr/>
        </p:nvSpPr>
        <p:spPr>
          <a:xfrm>
            <a:off x="10044474" y="6337438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2621509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D4FC-7B35-9E0A-91B1-A5819595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99B1-17CC-C027-7609-598CB0FD4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76" y="181878"/>
            <a:ext cx="10426875" cy="474345"/>
          </a:xfrm>
        </p:spPr>
        <p:txBody>
          <a:bodyPr/>
          <a:lstStyle/>
          <a:p>
            <a:r>
              <a:rPr lang="en-US"/>
              <a:t>ROBOTICS - Ownership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C8994A-2111-BBA4-B70E-0D151DBD2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588929"/>
              </p:ext>
            </p:extLst>
          </p:nvPr>
        </p:nvGraphicFramePr>
        <p:xfrm>
          <a:off x="305704" y="656223"/>
          <a:ext cx="11580591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231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3754453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3542754">
                  <a:extLst>
                    <a:ext uri="{9D8B030D-6E8A-4147-A177-3AD203B41FA5}">
                      <a16:colId xmlns:a16="http://schemas.microsoft.com/office/drawing/2014/main" val="2119413901"/>
                    </a:ext>
                  </a:extLst>
                </a:gridCol>
                <a:gridCol w="2404153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256913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Comments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61659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ROS2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ROS2 frameworks, custom nodes,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ROS2 driver nodes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GPU accelerated ROS2 nodes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900296"/>
                  </a:ext>
                </a:extLst>
              </a:tr>
              <a:tr h="43675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Use-case pipelines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Sample Robotic applications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Use-case pipelines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238093"/>
                  </a:ext>
                </a:extLst>
              </a:tr>
              <a:tr h="976269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Hardware accelerated middleware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GPU accelerated OpenCV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AI acceleration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err="1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Gstreamer</a:t>
                      </a: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 with accelerated AI plugins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AART(AMD Accelerated ROS Transport)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AARP(AMD Accelerated ROS Packages)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acceleration comes as part of Physical AI SDK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73358"/>
                  </a:ext>
                </a:extLst>
              </a:tr>
              <a:tr h="256913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Camera Integration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Camera driver integration support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03590"/>
                  </a:ext>
                </a:extLst>
              </a:tr>
              <a:tr h="256913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Real-time latency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Baremetal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EPD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634496"/>
                  </a:ext>
                </a:extLst>
              </a:tr>
              <a:tr h="25691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Virtualization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833897"/>
                  </a:ext>
                </a:extLst>
              </a:tr>
              <a:tr h="256913">
                <a:tc vMerge="1">
                  <a:txBody>
                    <a:bodyPr/>
                    <a:lstStyle/>
                    <a:p>
                      <a:pPr algn="l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Virtualization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rtl="0" fontAlgn="ctr">
                        <a:buFont typeface="Arial" panose="020B0604020202020204" pitchFamily="34" charset="0"/>
                        <a:buChar char="•"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3924"/>
                  </a:ext>
                </a:extLst>
              </a:tr>
              <a:tr h="61659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Functional safety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SIL-2 certification?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Open – What implication does it have on Robotics SDK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Foundation EPD + AIG +</a:t>
                      </a:r>
                      <a:r>
                        <a:rPr lang="en-US" sz="1200">
                          <a:solidFill>
                            <a:srgbClr val="00B0F0"/>
                          </a:solidFill>
                        </a:rPr>
                        <a:t> G&amp;E 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r>
                        <a:rPr lang="en-US" sz="12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SIL-2 certification requirement needs to be studied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782082"/>
                  </a:ext>
                </a:extLst>
              </a:tr>
              <a:tr h="43675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AudioSDK Integration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Robotics use-cases, Beamforming and noise cancellation in Robotics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732275"/>
                  </a:ext>
                </a:extLst>
              </a:tr>
              <a:tr h="43675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PhysicalAI SDK Integration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Robotics use-case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PAVS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rtl="0" fontAlgn="ctr">
                        <a:buFont typeface="Arial" panose="020B0604020202020204" pitchFamily="34" charset="0"/>
                        <a:buNone/>
                      </a:pPr>
                      <a:endParaRPr lang="en-US" sz="1200" kern="120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8328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872DD12-DEFB-0D7F-8126-F6F5DE8B4CCB}"/>
              </a:ext>
            </a:extLst>
          </p:cNvPr>
          <p:cNvSpPr txBox="1"/>
          <p:nvPr/>
        </p:nvSpPr>
        <p:spPr>
          <a:xfrm>
            <a:off x="10227153" y="5939295"/>
            <a:ext cx="1376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US" sz="1400">
                <a:solidFill>
                  <a:schemeClr val="accent3">
                    <a:lumMod val="60000"/>
                    <a:lumOff val="40000"/>
                  </a:schemeClr>
                </a:solidFill>
              </a:rPr>
              <a:t>PAVS Ownership</a:t>
            </a:r>
          </a:p>
        </p:txBody>
      </p:sp>
    </p:spTree>
    <p:extLst>
      <p:ext uri="{BB962C8B-B14F-4D97-AF65-F5344CB8AC3E}">
        <p14:creationId xmlns:p14="http://schemas.microsoft.com/office/powerpoint/2010/main" val="2386991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AF1F6FB-7AE9-33D8-C368-10B7EF9F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88113392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94DDD171-3649-784B-8DFF-0523AEB0E1C6}" vid="{59C6D40F-03E9-B54A-84C3-8AA203559103}"/>
    </a:ext>
  </a:extLst>
</a:theme>
</file>

<file path=ppt/theme/theme2.xml><?xml version="1.0" encoding="utf-8"?>
<a:theme xmlns:a="http://schemas.openxmlformats.org/drawingml/2006/main" name="7_AMD Corporate Template_Dark">
  <a:themeElements>
    <a:clrScheme name="AMD Datacenter Theme">
      <a:dk1>
        <a:srgbClr val="000000"/>
      </a:dk1>
      <a:lt1>
        <a:srgbClr val="FFFFFF"/>
      </a:lt1>
      <a:dk2>
        <a:srgbClr val="545554"/>
      </a:dk2>
      <a:lt2>
        <a:srgbClr val="999A99"/>
      </a:lt2>
      <a:accent1>
        <a:srgbClr val="8DB7C8"/>
      </a:accent1>
      <a:accent2>
        <a:srgbClr val="003B4B"/>
      </a:accent2>
      <a:accent3>
        <a:srgbClr val="01809C"/>
      </a:accent3>
      <a:accent4>
        <a:srgbClr val="797979"/>
      </a:accent4>
      <a:accent5>
        <a:srgbClr val="C0C0C0"/>
      </a:accent5>
      <a:accent6>
        <a:srgbClr val="EAEAEA"/>
      </a:accent6>
      <a:hlink>
        <a:srgbClr val="96BDD6"/>
      </a:hlink>
      <a:folHlink>
        <a:srgbClr val="96BD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buClr>
            <a:schemeClr val="accent1"/>
          </a:buClr>
          <a:buSzPct val="80000"/>
          <a:defRPr sz="1800" dirty="0" err="1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1 Data center Template.potx" id="{6A1C4D60-5F7E-4B53-9317-6D91DC499F64}" vid="{7B27CC42-495B-4532-A930-AA62E0D8CD80}"/>
    </a:ext>
  </a:extLst>
</a:theme>
</file>

<file path=ppt/theme/theme3.xml><?xml version="1.0" encoding="utf-8"?>
<a:theme xmlns:a="http://schemas.openxmlformats.org/drawingml/2006/main" name="4_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24C7D3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 - 2024 update -v1.1 4.pptx" id="{E14F8F89-5749-4A2B-A045-C50D990DBDB3}" vid="{98C03837-8BF8-4E63-8F9A-6D88A2DD0CEB}"/>
    </a:ext>
  </a:extLst>
</a:theme>
</file>

<file path=ppt/theme/theme4.xml><?xml version="1.0" encoding="utf-8"?>
<a:theme xmlns:a="http://schemas.openxmlformats.org/drawingml/2006/main" name="5_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 - 2024 update -v1.2" id="{952D021A-6A0B-49CB-832E-9DCCDC055701}" vid="{8B090628-2708-4125-B695-55346B67B5C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5253D6-1A30-9B44-8E98-4B780285EBFB}">
  <we:reference id="f9ac8e4d-ed29-46df-aca6-61a4f7a9a1d6" version="1.0.0.1" store="developer" storeType="Registry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AACC88FA0625418399E335407FE469" ma:contentTypeVersion="14" ma:contentTypeDescription="Create a new document." ma:contentTypeScope="" ma:versionID="fcef1fb75fd708dfbdbb8f562bbdaf15">
  <xsd:schema xmlns:xsd="http://www.w3.org/2001/XMLSchema" xmlns:xs="http://www.w3.org/2001/XMLSchema" xmlns:p="http://schemas.microsoft.com/office/2006/metadata/properties" xmlns:ns2="6c9e4bc5-5a51-4723-a0b6-ff0ac23ce333" xmlns:ns3="a2ae17d7-7c24-4e4f-b634-5944d31f16c9" targetNamespace="http://schemas.microsoft.com/office/2006/metadata/properties" ma:root="true" ma:fieldsID="304bcc66af292c2a103ee9e501c208f6" ns2:_="" ns3:_="">
    <xsd:import namespace="6c9e4bc5-5a51-4723-a0b6-ff0ac23ce333"/>
    <xsd:import namespace="a2ae17d7-7c24-4e4f-b634-5944d31f16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Comme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9e4bc5-5a51-4723-a0b6-ff0ac23ce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1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4acc8d3-66d8-4f7f-ac2f-7fccaf6b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ae17d7-7c24-4e4f-b634-5944d31f16c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4ccedaf-5795-425d-b0ba-1f381f89551e}" ma:internalName="TaxCatchAll" ma:showField="CatchAllData" ma:web="a2ae17d7-7c24-4e4f-b634-5944d31f16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TaxCatchAll xmlns="a2ae17d7-7c24-4e4f-b634-5944d31f16c9" xsi:nil="true"/>
    <lcf76f155ced4ddcb4097134ff3c332f xmlns="6c9e4bc5-5a51-4723-a0b6-ff0ac23ce333">
      <Terms xmlns="http://schemas.microsoft.com/office/infopath/2007/PartnerControls"/>
    </lcf76f155ced4ddcb4097134ff3c332f>
    <Comments xmlns="6c9e4bc5-5a51-4723-a0b6-ff0ac23ce333" xsi:nil="true"/>
  </documentManagement>
</p:properties>
</file>

<file path=customXml/itemProps1.xml><?xml version="1.0" encoding="utf-8"?>
<ds:datastoreItem xmlns:ds="http://schemas.openxmlformats.org/officeDocument/2006/customXml" ds:itemID="{EEE41B45-DD5D-4F1C-AC91-320DE2E7FD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F74AC4-CE06-4CF7-A313-774BA393F77F}">
  <ds:schemaRefs>
    <ds:schemaRef ds:uri="6c9e4bc5-5a51-4723-a0b6-ff0ac23ce333"/>
    <ds:schemaRef ds:uri="a2ae17d7-7c24-4e4f-b634-5944d31f16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908C944-6E7F-4468-81D5-24001973A21C}">
  <ds:schemaRefs>
    <ds:schemaRef ds:uri="6c9e4bc5-5a51-4723-a0b6-ff0ac23ce333"/>
    <ds:schemaRef ds:uri="a2ae17d7-7c24-4e4f-b634-5944d31f16c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454155b-27bc-4836-9eca-78a71baa37b9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11</Slides>
  <Notes>9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1_AMD Corporate Template_Dark</vt:lpstr>
      <vt:lpstr>7_AMD Corporate Template_Dark</vt:lpstr>
      <vt:lpstr>4_AMD Corporate Template_Dark</vt:lpstr>
      <vt:lpstr>5_AMD Corporate Template_Dark</vt:lpstr>
      <vt:lpstr>Capitola C40 interlock between PAVS and G&amp;E Version 1 on 6/18/2026  </vt:lpstr>
      <vt:lpstr>PowerPoint Presentation</vt:lpstr>
      <vt:lpstr>PowerPoint Presentation</vt:lpstr>
      <vt:lpstr>PowerPoint Presentation</vt:lpstr>
      <vt:lpstr>PowerPoint Presentation</vt:lpstr>
      <vt:lpstr>IVI – Ownership (1/2)</vt:lpstr>
      <vt:lpstr>IVI – Ownership (2/2)</vt:lpstr>
      <vt:lpstr>Industrial – Ownership </vt:lpstr>
      <vt:lpstr>Physical AI SDK - Ownership</vt:lpstr>
      <vt:lpstr>ROBOTICS - Ownership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AMD Embedded</dc:title>
  <dc:subject/>
  <dc:creator>Forester.Han@amd.com</dc:creator>
  <cp:keywords>Confidential, None</cp:keywords>
  <dc:description/>
  <cp:revision>3</cp:revision>
  <cp:lastPrinted>2023-06-08T20:35:11Z</cp:lastPrinted>
  <dcterms:created xsi:type="dcterms:W3CDTF">2016-08-29T21:26:42Z</dcterms:created>
  <dcterms:modified xsi:type="dcterms:W3CDTF">2026-07-24T14:57:35Z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2017 02 10  Raven OPS</vt:lpwstr>
  </property>
  <property fmtid="{D5CDD505-2E9C-101B-9397-08002B2CF9AE}" pid="3" name="SlideDescription">
    <vt:lpwstr>Raven client engineering dashboard  1/27/2017</vt:lpwstr>
  </property>
  <property fmtid="{D5CDD505-2E9C-101B-9397-08002B2CF9AE}" pid="4" name="MSIP_Label_88914ebd-7e6c-4e12-a031-a9906be2db14_Enabled">
    <vt:lpwstr>true</vt:lpwstr>
  </property>
  <property fmtid="{D5CDD505-2E9C-101B-9397-08002B2CF9AE}" pid="5" name="MSIP_Label_88914ebd-7e6c-4e12-a031-a9906be2db14_SetDate">
    <vt:lpwstr>2022-02-14T15:06:18Z</vt:lpwstr>
  </property>
  <property fmtid="{D5CDD505-2E9C-101B-9397-08002B2CF9AE}" pid="6" name="MSIP_Label_88914ebd-7e6c-4e12-a031-a9906be2db14_Method">
    <vt:lpwstr>Standard</vt:lpwstr>
  </property>
  <property fmtid="{D5CDD505-2E9C-101B-9397-08002B2CF9AE}" pid="7" name="MSIP_Label_88914ebd-7e6c-4e12-a031-a9906be2db14_Name">
    <vt:lpwstr>AMD Official Use Only-AIP 2.0</vt:lpwstr>
  </property>
  <property fmtid="{D5CDD505-2E9C-101B-9397-08002B2CF9AE}" pid="8" name="MSIP_Label_88914ebd-7e6c-4e12-a031-a9906be2db14_SiteId">
    <vt:lpwstr>3dd8961f-e488-4e60-8e11-a82d994e183d</vt:lpwstr>
  </property>
  <property fmtid="{D5CDD505-2E9C-101B-9397-08002B2CF9AE}" pid="9" name="MSIP_Label_88914ebd-7e6c-4e12-a031-a9906be2db14_ActionId">
    <vt:lpwstr>a77ff9ed-c89b-488d-87af-4284357d06f8</vt:lpwstr>
  </property>
  <property fmtid="{D5CDD505-2E9C-101B-9397-08002B2CF9AE}" pid="10" name="MSIP_Label_88914ebd-7e6c-4e12-a031-a9906be2db14_ContentBits">
    <vt:lpwstr>1</vt:lpwstr>
  </property>
  <property fmtid="{D5CDD505-2E9C-101B-9397-08002B2CF9AE}" pid="11" name="XilinxClassification">
    <vt:lpwstr>Confidential</vt:lpwstr>
  </property>
  <property fmtid="{D5CDD505-2E9C-101B-9397-08002B2CF9AE}" pid="12" name="TitusGUID">
    <vt:lpwstr>d84724ea-9f7e-47cb-99dd-46c6cbe781a6</vt:lpwstr>
  </property>
  <property fmtid="{D5CDD505-2E9C-101B-9397-08002B2CF9AE}" pid="13" name="IDENTIFIER">
    <vt:lpwstr>A75D4BF0-44A2-4296-A04F-93A6CF6D46B8</vt:lpwstr>
  </property>
  <property fmtid="{D5CDD505-2E9C-101B-9397-08002B2CF9AE}" pid="14" name="VisualMarkings">
    <vt:lpwstr>No</vt:lpwstr>
  </property>
  <property fmtid="{D5CDD505-2E9C-101B-9397-08002B2CF9AE}" pid="15" name="XilinxProprietary">
    <vt:lpwstr>No</vt:lpwstr>
  </property>
  <property fmtid="{D5CDD505-2E9C-101B-9397-08002B2CF9AE}" pid="16" name="AdditionalClassifications">
    <vt:lpwstr>None</vt:lpwstr>
  </property>
  <property fmtid="{D5CDD505-2E9C-101B-9397-08002B2CF9AE}" pid="17" name="ExportControl">
    <vt:lpwstr>None</vt:lpwstr>
  </property>
  <property fmtid="{D5CDD505-2E9C-101B-9397-08002B2CF9AE}" pid="18" name="ThirdParty">
    <vt:lpwstr/>
  </property>
  <property fmtid="{D5CDD505-2E9C-101B-9397-08002B2CF9AE}" pid="19" name="XilinxNote">
    <vt:lpwstr/>
  </property>
  <property fmtid="{D5CDD505-2E9C-101B-9397-08002B2CF9AE}" pid="20" name="NoteLine2">
    <vt:lpwstr/>
  </property>
  <property fmtid="{D5CDD505-2E9C-101B-9397-08002B2CF9AE}" pid="21" name="MediaServiceImageTags">
    <vt:lpwstr/>
  </property>
  <property fmtid="{D5CDD505-2E9C-101B-9397-08002B2CF9AE}" pid="22" name="ContentTypeId">
    <vt:lpwstr>0x010100FBAACC88FA0625418399E335407FE469</vt:lpwstr>
  </property>
  <property fmtid="{D5CDD505-2E9C-101B-9397-08002B2CF9AE}" pid="23" name="ClassificationContentMarkingHeaderLocations">
    <vt:lpwstr>5661_RetailSummit_RD1:7\AMD Corporate Template_Dark:8\Custom Design:9\1_AMD Corporate Template_Dark:8\2_AMD Corporate Template_Dark:8</vt:lpwstr>
  </property>
  <property fmtid="{D5CDD505-2E9C-101B-9397-08002B2CF9AE}" pid="24" name="ClassificationContentMarkingHeaderText">
    <vt:lpwstr>[AMD Confidential - Distribution with NDA]</vt:lpwstr>
  </property>
</Properties>
</file>