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4"/>
    <p:sldMasterId id="2147483836" r:id="rId5"/>
    <p:sldMasterId id="2147483920" r:id="rId6"/>
    <p:sldMasterId id="2147483970" r:id="rId7"/>
    <p:sldMasterId id="2147483978" r:id="rId8"/>
  </p:sldMasterIdLst>
  <p:notesMasterIdLst>
    <p:notesMasterId r:id="rId22"/>
  </p:notesMasterIdLst>
  <p:handoutMasterIdLst>
    <p:handoutMasterId r:id="rId23"/>
  </p:handoutMasterIdLst>
  <p:sldIdLst>
    <p:sldId id="2147471315" r:id="rId9"/>
    <p:sldId id="2147482688" r:id="rId10"/>
    <p:sldId id="2147479764" r:id="rId11"/>
    <p:sldId id="2147482691" r:id="rId12"/>
    <p:sldId id="2147482692" r:id="rId13"/>
    <p:sldId id="2147482693" r:id="rId14"/>
    <p:sldId id="2147479763" r:id="rId15"/>
    <p:sldId id="2147479766" r:id="rId16"/>
    <p:sldId id="2147471341" r:id="rId17"/>
    <p:sldId id="2147471326" r:id="rId18"/>
    <p:sldId id="2147477860" r:id="rId19"/>
    <p:sldId id="2147482686" r:id="rId20"/>
    <p:sldId id="21474826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49F1B6-9433-47D0-9209-0EE0217BE2F8}">
          <p14:sldIdLst/>
        </p14:section>
        <p14:section name="Default Section" id="{AE71C3C4-CD71-4466-8394-44687AAC5139}">
          <p14:sldIdLst>
            <p14:sldId id="2147471315"/>
            <p14:sldId id="2147482688"/>
            <p14:sldId id="2147479764"/>
            <p14:sldId id="2147482691"/>
            <p14:sldId id="2147482692"/>
            <p14:sldId id="2147482693"/>
            <p14:sldId id="2147479763"/>
            <p14:sldId id="2147479766"/>
            <p14:sldId id="2147471341"/>
            <p14:sldId id="2147471326"/>
            <p14:sldId id="2147477860"/>
            <p14:sldId id="2147482686"/>
            <p14:sldId id="2147482687"/>
          </p14:sldIdLst>
        </p14:section>
        <p14:section name="Backup" id="{14ACEEED-5E00-47B5-B881-2085D874A11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1C24"/>
    <a:srgbClr val="FFC000"/>
    <a:srgbClr val="E7F1F3"/>
    <a:srgbClr val="C0C0C0"/>
    <a:srgbClr val="B2B2B2"/>
    <a:srgbClr val="333333"/>
    <a:srgbClr val="808080"/>
    <a:srgbClr val="6FCCD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0509C5-ACAC-2ED8-946A-55D6E0A85B92}" v="2" dt="2026-06-24T16:07:36.237"/>
    <p1510:client id="{FD0326BA-923E-439B-A574-66C3D25A7220}" v="1" dt="2026-06-24T16:23:27.031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9B2F52-D0D2-4580-8BD5-E24CF27ED9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05B6D-2D58-4A0B-83DF-09DCD7EF87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A791D-CA8F-4915-A03C-560ED868AA5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8098E-31DE-4C6F-A4A3-7DFDC25A10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B6F3F-82A8-4FD2-B9EE-3C912AF2C5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9EE0E-524B-494D-A8EE-8BC4011DF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82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EE6450D-78A6-654C-84FC-A785C76F4CC2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30282C7-CE64-6545-8B0B-3FD7178D3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1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18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0A8D-8E0C-3273-A006-2D0D285C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6A472-1C96-3A7A-FC56-A50932443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8BCBE-7629-F614-2685-651BD8AB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80A53-C9A4-CC65-2154-8EC701ACB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94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4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58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NUL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9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13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56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07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07FA-5F90-214B-960E-C8845A995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FC440-288D-4D4B-992C-3A3D5D452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4AC20-F482-F04B-B072-C83890C2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0140"/>
            <a:ext cx="2743200" cy="365125"/>
          </a:xfrm>
          <a:prstGeom prst="rect">
            <a:avLst/>
          </a:prstGeom>
        </p:spPr>
        <p:txBody>
          <a:bodyPr/>
          <a:lstStyle/>
          <a:p>
            <a:fld id="{EF2A62B3-EFDC-6F4C-B5C8-CFE63118251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5B23-47C5-D040-A377-DE1908FC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3D332-046F-9341-8722-51E5F85A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4D1CF54-4F92-9849-A6E1-283005E82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2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469142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116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TG-Text-Block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53" y="6299156"/>
            <a:ext cx="1048956" cy="3650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342797" indent="-342797">
              <a:buClr>
                <a:schemeClr val="accent3"/>
              </a:buClr>
              <a:buFont typeface="Wingdings" charset="2"/>
              <a:buChar char="§"/>
              <a:defRPr sz="2999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599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99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1619945" cy="474345"/>
          </a:xfrm>
        </p:spPr>
        <p:txBody>
          <a:bodyPr/>
          <a:lstStyle>
            <a:lvl1pPr>
              <a:defRPr sz="3199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161994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21" y="6356930"/>
            <a:ext cx="828532" cy="3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6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hart/Tab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46C0-C325-43B9-BA83-04BB8717D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6481" y="6432387"/>
            <a:ext cx="368718" cy="205992"/>
          </a:xfrm>
          <a:prstGeom prst="rect">
            <a:avLst/>
          </a:prstGeom>
        </p:spPr>
        <p:txBody>
          <a:bodyPr/>
          <a:lstStyle/>
          <a:p>
            <a:fld id="{C9248301-CD73-4087-8BD0-582A0637A1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FE8E10-FD56-4C84-998C-27D5331D2A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1237" y="1431428"/>
            <a:ext cx="11409363" cy="48244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127925E-F276-4F8C-999A-8610D5F3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3EA46-66FC-4B37-B27F-9F2D62063C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Co-Engineering Kick-Off  |  Confidential Under  NDA  |  October 2018</a:t>
            </a:r>
          </a:p>
        </p:txBody>
      </p:sp>
    </p:spTree>
    <p:extLst>
      <p:ext uri="{BB962C8B-B14F-4D97-AF65-F5344CB8AC3E}">
        <p14:creationId xmlns:p14="http://schemas.microsoft.com/office/powerpoint/2010/main" val="371078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725A-00F8-49C7-8886-1A83DC67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C677-5604-44E9-BF14-756CD293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235D-7B7B-4F9B-A806-B6502792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C23D-4B9F-4759-ABB4-9D5BFF8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7571-9591-4FB0-A3DF-70D8235762F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CF865-1B50-41A2-9952-7234B236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16F5-FA1D-4482-B1A2-0527AFDB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0879-BB76-4CD4-8D91-1C5AA0AA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0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507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3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149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73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3" y="245568"/>
            <a:ext cx="11057206" cy="474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57207" cy="512064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48643" y="752474"/>
            <a:ext cx="11057206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42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5220925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TG-Text-Block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53" y="6299156"/>
            <a:ext cx="1048956" cy="3650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342797" indent="-342797">
              <a:buClr>
                <a:schemeClr val="accent3"/>
              </a:buClr>
              <a:buFont typeface="Wingdings" charset="2"/>
              <a:buChar char="§"/>
              <a:defRPr sz="2999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599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99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1619945" cy="474345"/>
          </a:xfrm>
        </p:spPr>
        <p:txBody>
          <a:bodyPr/>
          <a:lstStyle>
            <a:lvl1pPr>
              <a:defRPr sz="3199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161994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21" y="6356930"/>
            <a:ext cx="828532" cy="3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2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hart/Tab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46C0-C325-43B9-BA83-04BB8717D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6481" y="6432387"/>
            <a:ext cx="368718" cy="205992"/>
          </a:xfrm>
          <a:prstGeom prst="rect">
            <a:avLst/>
          </a:prstGeom>
        </p:spPr>
        <p:txBody>
          <a:bodyPr/>
          <a:lstStyle/>
          <a:p>
            <a:fld id="{C9248301-CD73-4087-8BD0-582A0637A1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FE8E10-FD56-4C84-998C-27D5331D2A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1237" y="1431428"/>
            <a:ext cx="11409363" cy="48244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127925E-F276-4F8C-999A-8610D5F3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3EA46-66FC-4B37-B27F-9F2D62063C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Co-Engineering Kick-Off  |  Confidential Under  NDA  |  October 2018</a:t>
            </a:r>
          </a:p>
        </p:txBody>
      </p:sp>
    </p:spTree>
    <p:extLst>
      <p:ext uri="{BB962C8B-B14F-4D97-AF65-F5344CB8AC3E}">
        <p14:creationId xmlns:p14="http://schemas.microsoft.com/office/powerpoint/2010/main" val="1792060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725A-00F8-49C7-8886-1A83DC67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C677-5604-44E9-BF14-756CD293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235D-7B7B-4F9B-A806-B6502792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C23D-4B9F-4759-ABB4-9D5BFF8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7571-9591-4FB0-A3DF-70D8235762F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CF865-1B50-41A2-9952-7234B236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16F5-FA1D-4482-B1A2-0527AFDB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0879-BB76-4CD4-8D91-1C5AA0AA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25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Full Widt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43575" y="4461940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43575" y="5444561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2FA86-3775-E142-A6D4-C23E4847CA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450" y="856707"/>
            <a:ext cx="2000068" cy="4766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D9592-0432-D21C-B147-1AC97DD7CA9F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53319-940E-D20E-D7D1-9AEC9F12A5C5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7326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1" y="231063"/>
            <a:ext cx="11018520" cy="570086"/>
          </a:xfrm>
          <a:prstGeom prst="rect">
            <a:avLst/>
          </a:prstGeom>
        </p:spPr>
        <p:txBody>
          <a:bodyPr anchor="t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658C0-2FF2-40AF-A3DF-55D0E3663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  RTG Operations  - May 2021  |  AMD Confidential - Internal Distribution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8DE8A-84FD-4455-A9CB-9978B8C6E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A81D44-4727-4D73-8B8D-9D941D66FF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698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923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AB032-04D9-4524-8A44-3147A895E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" y="2"/>
            <a:ext cx="12185583" cy="6853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8DC2E-4CD2-432E-988B-4D63426DD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866664" y="6267856"/>
            <a:ext cx="1234027" cy="47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A0429CE-12F1-493A-8F27-C5EE156C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025" y="2264666"/>
            <a:ext cx="6825271" cy="474345"/>
          </a:xfrm>
          <a:prstGeom prst="rect">
            <a:avLst/>
          </a:prstGeom>
        </p:spPr>
        <p:txBody>
          <a:bodyPr/>
          <a:lstStyle>
            <a:lvl1pPr>
              <a:defRPr lang="en-US" sz="5398" b="1" kern="1200" cap="all" spc="-156" baseline="0" dirty="0">
                <a:gradFill>
                  <a:gsLst>
                    <a:gs pos="33000">
                      <a:prstClr val="white">
                        <a:lumMod val="100000"/>
                      </a:prstClr>
                    </a:gs>
                    <a:gs pos="74000">
                      <a:prstClr val="white">
                        <a:lumMod val="65000"/>
                      </a:prstClr>
                    </a:gs>
                  </a:gsLst>
                  <a:lin ang="5400000" scaled="1"/>
                </a:gradFill>
                <a:latin typeface="Klavika Medium" pitchFamily="2" charset="77"/>
                <a:ea typeface="+mn-ea"/>
                <a:cs typeface="Effra Ligh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1EE23A-E1B9-473B-9D0A-D21537D68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5027" y="2987158"/>
            <a:ext cx="4636580" cy="28575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9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89254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699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8572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70981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7254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3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CE64E79-6923-B943-9677-CA862C9ED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94703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1764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824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2904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4630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13" pos="2744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2" orient="horz" pos="1728">
          <p15:clr>
            <a:srgbClr val="FBAE4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1317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451317"/>
            <a:ext cx="6667500" cy="568324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443629"/>
            <a:ext cx="0" cy="1701800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2588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FDE53C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F794C-0039-734A-9A67-0890BA2F7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91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FBAE40"/>
          </p15:clr>
        </p15:guide>
        <p15:guide id="3" orient="horz" pos="1872">
          <p15:clr>
            <a:srgbClr val="5ACBF0"/>
          </p15:clr>
        </p15:guide>
        <p15:guide id="4" orient="horz" pos="2568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362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64810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7351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456591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</a:t>
            </a:r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Segoe UI" pitchFamily="34" charset="0"/>
              </a:rPr>
              <a:t>Advanced Micro Devices,</a:t>
            </a:r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 Inc,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F5DA9-7F0B-974A-BDA7-C8F89F527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Ryzen_Three Section w/ Footer">
    <p:bg>
      <p:bgPr>
        <a:gradFill>
          <a:gsLst>
            <a:gs pos="100000">
              <a:schemeClr val="tx1"/>
            </a:gs>
            <a:gs pos="30000">
              <a:schemeClr val="tx1">
                <a:lumMod val="95000"/>
                <a:lumOff val="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6813F-27FE-CF42-A6AF-C6D4FEE447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558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6821C60-3005-9348-BEB7-13FADAF269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2051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FA69E69-1218-D642-98D0-59D52F6582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51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85770E2-092C-D846-989D-3D15F800B2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5059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A576936-2CD7-9C46-9D4F-7B694777D2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4994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7969697-7B76-784D-B7C6-7476E13F28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4994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91ED116A-3C87-834F-A5B2-BA669E8B71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7443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E23B821-A2E8-7D42-947C-F038B76410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7936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0CAB5ED-C3D9-6E43-A042-EBF6C880C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7936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F7E6253-D79D-E04F-85CA-5230C912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0101"/>
            <a:ext cx="12192000" cy="784830"/>
          </a:xfrm>
        </p:spPr>
        <p:txBody>
          <a:bodyPr>
            <a:spAutoFit/>
          </a:bodyPr>
          <a:lstStyle>
            <a:lvl1pPr algn="ctr">
              <a:defRPr lang="en-US" sz="4800" b="1" i="0" strike="noStrike" kern="1200" cap="all" spc="-150" baseline="0" dirty="0">
                <a:solidFill>
                  <a:schemeClr val="bg1">
                    <a:lumMod val="95000"/>
                  </a:schemeClr>
                </a:solidFill>
                <a:latin typeface="Klavika Medium" panose="020B05060400000200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64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1107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707"/>
            <a:ext cx="9997441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0" y="1381123"/>
            <a:ext cx="11460481" cy="493776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9997441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1094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38599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3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 marL="801688" indent="-168275">
              <a:buClr>
                <a:schemeClr val="tx1">
                  <a:lumMod val="50000"/>
                  <a:lumOff val="50000"/>
                </a:schemeClr>
              </a:buClr>
              <a:tabLst>
                <a:tab pos="801688" algn="l"/>
              </a:tabLst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53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341640"/>
            <a:ext cx="1166302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74194"/>
            <a:ext cx="11663021" cy="12003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63073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1" y="914400"/>
            <a:ext cx="11658600" cy="12003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89B6-A0D8-F246-951C-FE4F9EB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C45B5-0207-4F77-A575-505644FE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423" y="6492877"/>
            <a:ext cx="483059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 b="0" i="0">
                <a:solidFill>
                  <a:schemeClr val="bg2"/>
                </a:solidFill>
                <a:latin typeface="Klavika Regular" panose="020B0506040000020004" pitchFamily="34" charset="0"/>
              </a:defRPr>
            </a:lvl1pPr>
          </a:lstStyle>
          <a:p>
            <a:r>
              <a:rPr lang="en-US"/>
              <a:t>|   STRIX / MS 1  CONCEPT UPDATE   |   APRIL 9, 2021    |   CONFIDENTIAL – NDA REQURIED</a:t>
            </a:r>
          </a:p>
        </p:txBody>
      </p:sp>
    </p:spTree>
    <p:extLst>
      <p:ext uri="{BB962C8B-B14F-4D97-AF65-F5344CB8AC3E}">
        <p14:creationId xmlns:p14="http://schemas.microsoft.com/office/powerpoint/2010/main" val="14341098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496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263" y="561173"/>
            <a:ext cx="11018520" cy="492122"/>
          </a:xfrm>
        </p:spPr>
        <p:txBody>
          <a:bodyPr/>
          <a:lstStyle>
            <a:lvl1pPr>
              <a:defRPr sz="3198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8C207BA-20EF-4C80-B904-A724D1C415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5850" y="1128048"/>
            <a:ext cx="1146048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0475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65855" y="245568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633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99862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838" indent="-288838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622" indent="-16822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350" indent="-182508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865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4969507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10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79406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758474" y="518058"/>
            <a:ext cx="36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4625" indent="-174625">
              <a:spcAft>
                <a:spcPts val="600"/>
              </a:spcAft>
              <a:buClr>
                <a:schemeClr val="bg2"/>
              </a:buClr>
              <a:buFont typeface="Wingdings 3" pitchFamily="18" charset="2"/>
              <a:buChar char="}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1816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18045E0-1A64-A540-B8D3-000380413B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005F6F9C-9A4A-6F4C-A861-4B55980CD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BDD1EE-CA25-634F-9231-8978809CCB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699" y="2266790"/>
            <a:ext cx="4951195" cy="2754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13D894A3-4BCF-624B-8E78-214D7A6E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99" y="402878"/>
            <a:ext cx="4951195" cy="1704891"/>
          </a:xfrm>
        </p:spPr>
        <p:txBody>
          <a:bodyPr anchor="b">
            <a:no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6A58DE1-1CAA-FE44-848A-E1AC6397B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9454" y="0"/>
            <a:ext cx="2272196" cy="502126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048AA25-DE0B-4048-AE7C-71B85BD42D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49454" y="5287120"/>
            <a:ext cx="2272196" cy="157088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7B012A6A-C8E7-3D4B-AB1D-257C0630C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04797" y="0"/>
            <a:ext cx="2272196" cy="210776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0313B290-C967-234D-8D75-0378F61B6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4797" y="2402237"/>
            <a:ext cx="2272196" cy="4455762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FF18FD-696F-B743-B474-36B3734E8FD9}"/>
              </a:ext>
            </a:extLst>
          </p:cNvPr>
          <p:cNvCxnSpPr/>
          <p:nvPr userDrawn="1"/>
        </p:nvCxnSpPr>
        <p:spPr>
          <a:xfrm>
            <a:off x="0" y="5171354"/>
            <a:ext cx="8263223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82CEEF-4BE9-5F40-B17B-8742997664A0}"/>
              </a:ext>
            </a:extLst>
          </p:cNvPr>
          <p:cNvCxnSpPr/>
          <p:nvPr userDrawn="1"/>
        </p:nvCxnSpPr>
        <p:spPr>
          <a:xfrm>
            <a:off x="8263223" y="2266790"/>
            <a:ext cx="3928777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1080000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E1EFC2-0EEC-854A-B5BA-D7954F4FCBF5}"/>
              </a:ext>
            </a:extLst>
          </p:cNvPr>
          <p:cNvCxnSpPr/>
          <p:nvPr userDrawn="1"/>
        </p:nvCxnSpPr>
        <p:spPr>
          <a:xfrm>
            <a:off x="8263223" y="0"/>
            <a:ext cx="0" cy="6857999"/>
          </a:xfrm>
          <a:prstGeom prst="line">
            <a:avLst/>
          </a:prstGeom>
          <a:noFill/>
          <a:ln w="50800" cap="flat" cmpd="sng" algn="ctr">
            <a:solidFill>
              <a:srgbClr val="ED1C24"/>
            </a:solidFill>
            <a:prstDash val="solid"/>
            <a:miter lim="800000"/>
            <a:headEnd type="none"/>
            <a:tailEnd type="none" w="lg" len="lg"/>
          </a:ln>
          <a:effectLst/>
        </p:spPr>
      </p:cxn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FB954FF1-A126-4ECD-9D39-123B00DE8B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832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AD4BE-C1AB-6647-A8E6-140CFE563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5D3B6AF-E29D-E64E-891A-E3B0994DC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BAE03F-FE2B-0B49-AF55-C2EDDDC9C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237" y="1695268"/>
            <a:ext cx="11409528" cy="4500816"/>
          </a:xfr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 sz="1800"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321A177-7B3A-FA4E-8A7C-EB0596F9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0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8D8F9F-270E-CB4B-9634-2B9422309880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6BEABF-E298-754C-9BE1-28675D28FDD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6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65ADB416-9B7C-46DB-ABBD-4E0113EF84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035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47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_AM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578" y="585787"/>
            <a:ext cx="122101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60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39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FAA5D-652B-2046-B842-C0F17EA7CF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11018520" cy="1200329"/>
          </a:xfrm>
        </p:spPr>
        <p:txBody>
          <a:bodyPr/>
          <a:lstStyle>
            <a:lvl1pPr>
              <a:buSzPct val="80000"/>
              <a:buFont typeface="Arial" panose="020B0604020202020204" pitchFamily="34" charset="0"/>
              <a:buChar char="•"/>
              <a:defRPr/>
            </a:lvl1pPr>
            <a:lvl2pPr>
              <a:buClr>
                <a:schemeClr val="accent4"/>
              </a:buClr>
              <a:buSzPct val="80000"/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50896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7034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7">
            <a:extLst>
              <a:ext uri="{FF2B5EF4-FFF2-40B4-BE49-F238E27FC236}">
                <a16:creationId xmlns:a16="http://schemas.microsoft.com/office/drawing/2014/main" id="{54F20B8C-78F6-4453-B5E2-4CEDF7AC48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FFF3B-2089-49A9-A570-07D228415302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91272-3B83-40A1-B40E-514B4C21B1D1}"/>
              </a:ext>
            </a:extLst>
          </p:cNvPr>
          <p:cNvSpPr txBox="1"/>
          <p:nvPr userDrawn="1"/>
        </p:nvSpPr>
        <p:spPr>
          <a:xfrm>
            <a:off x="489006" y="6543252"/>
            <a:ext cx="292516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G&amp;E Offsite January 2021 | AMD 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330660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or Big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1CDC60-F1B6-0B45-A345-E8DD606FB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030" y="0"/>
            <a:ext cx="1118997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E4AE5D2-1D7A-E341-A8F0-5EAF40B568BE}"/>
              </a:ext>
            </a:extLst>
          </p:cNvPr>
          <p:cNvSpPr/>
          <p:nvPr userDrawn="1"/>
        </p:nvSpPr>
        <p:spPr>
          <a:xfrm>
            <a:off x="-1" y="814917"/>
            <a:ext cx="12192002" cy="5228167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49000">
                <a:srgbClr val="000000">
                  <a:alpha val="96000"/>
                </a:srgbClr>
              </a:gs>
              <a:gs pos="99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F0CE0-7F69-FB4A-9B8E-F10F76E5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409911"/>
            <a:ext cx="11658600" cy="2022951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1FC32-6D03-804E-9C07-EF2DAA1CB8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5423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CE38-4723-3F43-9A3A-B95DCC821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59C75-1326-0049-9079-2EACF57518A8}"/>
              </a:ext>
            </a:extLst>
          </p:cNvPr>
          <p:cNvGrpSpPr/>
          <p:nvPr userDrawn="1"/>
        </p:nvGrpSpPr>
        <p:grpSpPr>
          <a:xfrm>
            <a:off x="-2" y="2192866"/>
            <a:ext cx="10972802" cy="2472267"/>
            <a:chOff x="762000" y="2272108"/>
            <a:chExt cx="9967146" cy="24722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F74DDF-2C0E-8D4D-BF00-BA75E9B8A158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2272108"/>
              <a:ext cx="9967146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E76B47-0289-0B42-B9FD-FCEC9F66B8B4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4744375"/>
              <a:ext cx="7552267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B6FB4DC-AE59-DC41-B79B-D83A58329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7711" y="4882179"/>
            <a:ext cx="8524875" cy="433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SOURCE OR ATTRIBUTE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539E8-59A2-9941-9DFE-7778E134A5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1675642"/>
            <a:ext cx="1226289" cy="2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67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388"/>
            <a:ext cx="10241280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1" y="1381123"/>
            <a:ext cx="5486400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1024128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0" y="1381123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2702693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AB032-04D9-4524-8A44-3147A895E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" y="2"/>
            <a:ext cx="12185583" cy="6853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8DC2E-4CD2-432E-988B-4D63426DD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866664" y="6267856"/>
            <a:ext cx="1234027" cy="47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A0429CE-12F1-493A-8F27-C5EE156C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025" y="2264666"/>
            <a:ext cx="6825271" cy="474345"/>
          </a:xfrm>
          <a:prstGeom prst="rect">
            <a:avLst/>
          </a:prstGeom>
        </p:spPr>
        <p:txBody>
          <a:bodyPr/>
          <a:lstStyle>
            <a:lvl1pPr>
              <a:defRPr lang="en-US" sz="5398" b="1" kern="1200" cap="all" spc="-156" baseline="0" dirty="0">
                <a:gradFill>
                  <a:gsLst>
                    <a:gs pos="33000">
                      <a:prstClr val="white">
                        <a:lumMod val="100000"/>
                      </a:prstClr>
                    </a:gs>
                    <a:gs pos="74000">
                      <a:prstClr val="white">
                        <a:lumMod val="65000"/>
                      </a:prstClr>
                    </a:gs>
                  </a:gsLst>
                  <a:lin ang="5400000" scaled="1"/>
                </a:gradFill>
                <a:latin typeface="Klavika Medium" pitchFamily="2" charset="77"/>
                <a:ea typeface="+mn-ea"/>
                <a:cs typeface="Effra Ligh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1EE23A-E1B9-473B-9D0A-D21537D68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5027" y="2987158"/>
            <a:ext cx="4636580" cy="28575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9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957221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699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EBBCA-B090-345C-BED8-110DD80ED3F6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3222B-4AC9-1159-01E2-FE3545903E77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74044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449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84548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3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CE64E79-6923-B943-9677-CA862C9ED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94703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37613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1818DE-FA04-4A57-3D9C-7774C986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96489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91787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6A7F0C-1D47-B1C3-9C69-88320574A030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D0813-D1CB-D790-3607-3D87381D0F6E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12831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13" pos="2744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2" orient="horz" pos="1728">
          <p15:clr>
            <a:srgbClr val="FBAE4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1317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451317"/>
            <a:ext cx="6667500" cy="568324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443629"/>
            <a:ext cx="0" cy="1701800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34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FDE53C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F794C-0039-734A-9A67-0890BA2F7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3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FBAE40"/>
          </p15:clr>
        </p15:guide>
        <p15:guide id="3" orient="horz" pos="1872">
          <p15:clr>
            <a:srgbClr val="5ACBF0"/>
          </p15:clr>
        </p15:guide>
        <p15:guide id="4" orient="horz" pos="2568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5599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64810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210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456591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</a:t>
            </a:r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Segoe UI" pitchFamily="34" charset="0"/>
              </a:rPr>
              <a:t>Advanced Micro Devices,</a:t>
            </a:r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 Inc,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F5DA9-7F0B-974A-BDA7-C8F89F527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3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Ryzen_Three Section w/ Footer">
    <p:bg>
      <p:bgPr>
        <a:gradFill>
          <a:gsLst>
            <a:gs pos="100000">
              <a:schemeClr val="tx1"/>
            </a:gs>
            <a:gs pos="30000">
              <a:schemeClr val="tx1">
                <a:lumMod val="95000"/>
                <a:lumOff val="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6813F-27FE-CF42-A6AF-C6D4FEE447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558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6821C60-3005-9348-BEB7-13FADAF269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2051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FA69E69-1218-D642-98D0-59D52F6582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51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85770E2-092C-D846-989D-3D15F800B2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5059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A576936-2CD7-9C46-9D4F-7B694777D2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4994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7969697-7B76-784D-B7C6-7476E13F28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4994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91ED116A-3C87-834F-A5B2-BA669E8B71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7443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E23B821-A2E8-7D42-947C-F038B76410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7936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0CAB5ED-C3D9-6E43-A042-EBF6C880C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7936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F7E6253-D79D-E04F-85CA-5230C912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0101"/>
            <a:ext cx="12192000" cy="784830"/>
          </a:xfrm>
        </p:spPr>
        <p:txBody>
          <a:bodyPr>
            <a:spAutoFit/>
          </a:bodyPr>
          <a:lstStyle>
            <a:lvl1pPr algn="ctr">
              <a:defRPr lang="en-US" sz="4800" b="1" i="0" strike="noStrike" kern="1200" cap="all" spc="-150" baseline="0" dirty="0">
                <a:solidFill>
                  <a:schemeClr val="bg1">
                    <a:lumMod val="95000"/>
                  </a:schemeClr>
                </a:solidFill>
                <a:latin typeface="Klavika Medium" panose="020B05060400000200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7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39344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4177761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98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 marL="801688" indent="-168275">
              <a:buClr>
                <a:schemeClr val="tx1">
                  <a:lumMod val="50000"/>
                  <a:lumOff val="50000"/>
                </a:schemeClr>
              </a:buClr>
              <a:tabLst>
                <a:tab pos="801688" algn="l"/>
              </a:tabLst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922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341640"/>
            <a:ext cx="1166302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74194"/>
            <a:ext cx="11663021" cy="12003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9192033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1" y="914400"/>
            <a:ext cx="11658600" cy="12003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89B6-A0D8-F246-951C-FE4F9EB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C45B5-0207-4F77-A575-505644FE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423" y="6492877"/>
            <a:ext cx="483059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 b="0" i="0">
                <a:solidFill>
                  <a:schemeClr val="bg2"/>
                </a:solidFill>
                <a:latin typeface="Klavika Regular" panose="020B0506040000020004" pitchFamily="34" charset="0"/>
              </a:defRPr>
            </a:lvl1pPr>
          </a:lstStyle>
          <a:p>
            <a:r>
              <a:rPr lang="en-US"/>
              <a:t>AMD Confidential - Provided under NDA</a:t>
            </a:r>
          </a:p>
        </p:txBody>
      </p:sp>
    </p:spTree>
    <p:extLst>
      <p:ext uri="{BB962C8B-B14F-4D97-AF65-F5344CB8AC3E}">
        <p14:creationId xmlns:p14="http://schemas.microsoft.com/office/powerpoint/2010/main" val="211469148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345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263" y="561173"/>
            <a:ext cx="11018520" cy="492122"/>
          </a:xfrm>
        </p:spPr>
        <p:txBody>
          <a:bodyPr/>
          <a:lstStyle>
            <a:lvl1pPr>
              <a:defRPr sz="3198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8C207BA-20EF-4C80-B904-A724D1C415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5850" y="1128048"/>
            <a:ext cx="1146048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573304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65855" y="245568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947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99862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838" indent="-288838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622" indent="-16822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350" indent="-182508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68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4774033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902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79406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758474" y="518058"/>
            <a:ext cx="36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4625" indent="-174625">
              <a:spcAft>
                <a:spcPts val="600"/>
              </a:spcAft>
              <a:buClr>
                <a:schemeClr val="bg2"/>
              </a:buClr>
              <a:buFont typeface="Wingdings 3" pitchFamily="18" charset="2"/>
              <a:buChar char="}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819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18045E0-1A64-A540-B8D3-000380413B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005F6F9C-9A4A-6F4C-A861-4B55980CD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BDD1EE-CA25-634F-9231-8978809CCB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699" y="2266790"/>
            <a:ext cx="4951195" cy="2754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13D894A3-4BCF-624B-8E78-214D7A6E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99" y="402878"/>
            <a:ext cx="4951195" cy="1704891"/>
          </a:xfrm>
        </p:spPr>
        <p:txBody>
          <a:bodyPr anchor="b">
            <a:no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6A58DE1-1CAA-FE44-848A-E1AC6397B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9454" y="0"/>
            <a:ext cx="2272196" cy="502126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048AA25-DE0B-4048-AE7C-71B85BD42D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49454" y="5287120"/>
            <a:ext cx="2272196" cy="157088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7B012A6A-C8E7-3D4B-AB1D-257C0630C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04797" y="0"/>
            <a:ext cx="2272196" cy="210776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0313B290-C967-234D-8D75-0378F61B6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4797" y="2402237"/>
            <a:ext cx="2272196" cy="4455762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FF18FD-696F-B743-B474-36B3734E8FD9}"/>
              </a:ext>
            </a:extLst>
          </p:cNvPr>
          <p:cNvCxnSpPr/>
          <p:nvPr userDrawn="1"/>
        </p:nvCxnSpPr>
        <p:spPr>
          <a:xfrm>
            <a:off x="0" y="5171354"/>
            <a:ext cx="8263223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82CEEF-4BE9-5F40-B17B-8742997664A0}"/>
              </a:ext>
            </a:extLst>
          </p:cNvPr>
          <p:cNvCxnSpPr/>
          <p:nvPr userDrawn="1"/>
        </p:nvCxnSpPr>
        <p:spPr>
          <a:xfrm>
            <a:off x="8263223" y="2266790"/>
            <a:ext cx="3928777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1080000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E1EFC2-0EEC-854A-B5BA-D7954F4FCBF5}"/>
              </a:ext>
            </a:extLst>
          </p:cNvPr>
          <p:cNvCxnSpPr/>
          <p:nvPr userDrawn="1"/>
        </p:nvCxnSpPr>
        <p:spPr>
          <a:xfrm>
            <a:off x="8263223" y="0"/>
            <a:ext cx="0" cy="6857999"/>
          </a:xfrm>
          <a:prstGeom prst="line">
            <a:avLst/>
          </a:prstGeom>
          <a:noFill/>
          <a:ln w="50800" cap="flat" cmpd="sng" algn="ctr">
            <a:solidFill>
              <a:srgbClr val="ED1C24"/>
            </a:solidFill>
            <a:prstDash val="solid"/>
            <a:miter lim="800000"/>
            <a:headEnd type="none"/>
            <a:tailEnd type="none" w="lg" len="lg"/>
          </a:ln>
          <a:effectLst/>
        </p:spPr>
      </p:cxn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FB954FF1-A126-4ECD-9D39-123B00DE8B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589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AD4BE-C1AB-6647-A8E6-140CFE563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5D3B6AF-E29D-E64E-891A-E3B0994DC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BAE03F-FE2B-0B49-AF55-C2EDDDC9C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237" y="1695268"/>
            <a:ext cx="11409528" cy="4500816"/>
          </a:xfr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 sz="1800"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321A177-7B3A-FA4E-8A7C-EB0596F9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0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8D8F9F-270E-CB4B-9634-2B9422309880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6BEABF-E298-754C-9BE1-28675D28FDD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6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65ADB416-9B7C-46DB-ABBD-4E0113EF84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93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42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34" Type="http://schemas.microsoft.com/office/2007/relationships/hdphoto" Target="../media/hdphoto2.wdp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86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33" Type="http://schemas.microsoft.com/office/2007/relationships/hdphoto" Target="../media/hdphoto2.wdp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9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32" Type="http://schemas.openxmlformats.org/officeDocument/2006/relationships/image" Target="../media/image6.png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90.xml"/><Relationship Id="rId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326" y="1381125"/>
            <a:ext cx="11341514" cy="4937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137" y="6545996"/>
            <a:ext cx="182791" cy="267525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/>
            <a:fld id="{B50A2252-0B00-49D0-9A28-2F5CCECF09D1}" type="slidenum">
              <a:rPr lang="en-US" sz="1200" cap="all" smtClean="0">
                <a:solidFill>
                  <a:prstClr val="white"/>
                </a:solidFill>
                <a:cs typeface="Arial" pitchFamily="34" charset="0"/>
              </a:rPr>
              <a:pPr algn="r"/>
              <a:t>‹#›</a:t>
            </a:fld>
            <a:endParaRPr lang="en-US" sz="1200" cap="all">
              <a:solidFill>
                <a:prstClr val="white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39" y="325876"/>
            <a:ext cx="1202311" cy="469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143" y="6553689"/>
            <a:ext cx="1203856" cy="25213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r>
              <a:rPr lang="en-US" sz="1100" cap="all">
                <a:solidFill>
                  <a:prstClr val="white"/>
                </a:solidFill>
                <a:cs typeface="Arial" pitchFamily="34" charset="0"/>
              </a:rPr>
              <a:t>AMD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A5FB1-C4BE-5BD6-2686-14EC4D501B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2180713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4" r:id="rId6"/>
    <p:sldLayoutId id="2147483825" r:id="rId7"/>
    <p:sldLayoutId id="2147483826" r:id="rId8"/>
    <p:sldLayoutId id="2147483828" r:id="rId9"/>
    <p:sldLayoutId id="2147483830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600" strike="noStrike" kern="1200" cap="all" baseline="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spcAft>
          <a:spcPts val="0"/>
        </a:spcAft>
        <a:buClr>
          <a:schemeClr val="tx1"/>
        </a:buClr>
        <a:buFont typeface="Wingdings 3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8640" indent="-1809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880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5920" indent="-164592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326" y="1381125"/>
            <a:ext cx="11341514" cy="4937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137" y="6545996"/>
            <a:ext cx="182791" cy="267525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/>
            <a:fld id="{B50A2252-0B00-49D0-9A28-2F5CCECF09D1}" type="slidenum">
              <a:rPr lang="en-US" sz="1200" cap="all" smtClean="0">
                <a:solidFill>
                  <a:prstClr val="white"/>
                </a:solidFill>
                <a:cs typeface="Arial" pitchFamily="34" charset="0"/>
              </a:rPr>
              <a:pPr algn="r"/>
              <a:t>‹#›</a:t>
            </a:fld>
            <a:endParaRPr lang="en-US" sz="1200" cap="all">
              <a:solidFill>
                <a:prstClr val="white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39" y="325876"/>
            <a:ext cx="1202311" cy="46970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43143" y="6553689"/>
            <a:ext cx="1333698" cy="25213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r>
              <a:rPr lang="en-US" sz="1100" cap="all">
                <a:solidFill>
                  <a:prstClr val="white"/>
                </a:solidFill>
                <a:cs typeface="Arial" pitchFamily="34" charset="0"/>
              </a:rPr>
              <a:t>|  AMD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0B646-9F7C-1A67-416C-B9AB74BDAE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351593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2" r:id="rId5"/>
    <p:sldLayoutId id="2147483843" r:id="rId6"/>
    <p:sldLayoutId id="2147483845" r:id="rId7"/>
    <p:sldLayoutId id="2147483847" r:id="rId8"/>
    <p:sldLayoutId id="2147483849" r:id="rId9"/>
    <p:sldLayoutId id="2147483962" r:id="rId10"/>
    <p:sldLayoutId id="2147483966" r:id="rId11"/>
    <p:sldLayoutId id="2147483967" r:id="rId12"/>
    <p:sldLayoutId id="214748396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600" strike="noStrike" kern="1200" cap="all" baseline="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spcAft>
          <a:spcPts val="0"/>
        </a:spcAft>
        <a:buClr>
          <a:schemeClr val="tx1"/>
        </a:buClr>
        <a:buFont typeface="Wingdings 3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8640" indent="-1809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880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5920" indent="-164592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20169"/>
            <a:ext cx="6033703" cy="244442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all" spc="0" normalizeH="0" baseline="0" noProof="0" err="1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OneInfotainment</a:t>
            </a:r>
            <a:r>
              <a:rPr kumimoji="0" lang="en-CA" sz="105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 |   April 16, 2020  |  AMD Confidential – Provided under NDA to Volkswagen AG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C4B73F-47DB-2322-E0AF-1EE95A5856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342382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5" r:id="rId14"/>
    <p:sldLayoutId id="2147483936" r:id="rId15"/>
    <p:sldLayoutId id="2147483937" r:id="rId16"/>
    <p:sldLayoutId id="2147483938" r:id="rId17"/>
    <p:sldLayoutId id="2147483939" r:id="rId18"/>
    <p:sldLayoutId id="2147483940" r:id="rId19"/>
    <p:sldLayoutId id="2147483944" r:id="rId20"/>
    <p:sldLayoutId id="2147483945" r:id="rId21"/>
    <p:sldLayoutId id="2147483946" r:id="rId22"/>
    <p:sldLayoutId id="2147483947" r:id="rId23"/>
    <p:sldLayoutId id="2147483948" r:id="rId24"/>
    <p:sldLayoutId id="2147483949" r:id="rId25"/>
    <p:sldLayoutId id="2147483953" r:id="rId26"/>
    <p:sldLayoutId id="2147483956" r:id="rId27"/>
    <p:sldLayoutId id="2147483957" r:id="rId28"/>
    <p:sldLayoutId id="2147483959" r:id="rId29"/>
    <p:sldLayoutId id="2147483960" r:id="rId30"/>
    <p:sldLayoutId id="2147483961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43252"/>
            <a:ext cx="764312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AMD Confidential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88B8F-3670-15F6-A898-37F5E07F4D6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182945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20169"/>
            <a:ext cx="6033703" cy="244442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all" spc="0" normalizeH="0" baseline="0" noProof="0" err="1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OneInfotainment</a:t>
            </a:r>
            <a:r>
              <a:rPr kumimoji="0" lang="en-CA" sz="105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 |   April 16, 2020  |  AMD Confidential – Provided under NDA to Volkswagen 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AB4BC-0F41-45BE-9277-22A44F17B78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20812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8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[Confidential - Distribution with NDA]</a:t>
            </a:r>
          </a:p>
        </p:txBody>
      </p:sp>
    </p:spTree>
    <p:extLst>
      <p:ext uri="{BB962C8B-B14F-4D97-AF65-F5344CB8AC3E}">
        <p14:creationId xmlns:p14="http://schemas.microsoft.com/office/powerpoint/2010/main" val="10394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2" r:id="rId14"/>
    <p:sldLayoutId id="2147483993" r:id="rId15"/>
    <p:sldLayoutId id="2147483994" r:id="rId16"/>
    <p:sldLayoutId id="2147483995" r:id="rId17"/>
    <p:sldLayoutId id="2147483996" r:id="rId18"/>
    <p:sldLayoutId id="2147484000" r:id="rId19"/>
    <p:sldLayoutId id="2147484001" r:id="rId20"/>
    <p:sldLayoutId id="2147484002" r:id="rId21"/>
    <p:sldLayoutId id="2147484003" r:id="rId22"/>
    <p:sldLayoutId id="2147484004" r:id="rId23"/>
    <p:sldLayoutId id="2147484005" r:id="rId24"/>
    <p:sldLayoutId id="2147484009" r:id="rId25"/>
    <p:sldLayoutId id="2147484012" r:id="rId26"/>
    <p:sldLayoutId id="2147484013" r:id="rId27"/>
    <p:sldLayoutId id="2147484015" r:id="rId28"/>
    <p:sldLayoutId id="2147484016" r:id="rId29"/>
    <p:sldLayoutId id="2147484017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960B4E-4B38-32B0-E908-86DA43FC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5" y="3257947"/>
            <a:ext cx="9144000" cy="1107996"/>
          </a:xfrm>
        </p:spPr>
        <p:txBody>
          <a:bodyPr/>
          <a:lstStyle/>
          <a:p>
            <a:r>
              <a:rPr lang="en-US">
                <a:cs typeface="Arial"/>
              </a:rPr>
              <a:t>Capitola 40 - high level software features and R&amp;R Details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09C5F-DDCD-FA66-A83B-E22614FA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E333E7-326D-1FF4-10A8-0359F942914A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: A Platform Built for Next Generation Edge AI </a:t>
            </a:r>
          </a:p>
          <a:p>
            <a:r>
              <a:rPr lang="en-US">
                <a:solidFill>
                  <a:srgbClr val="00B0F0"/>
                </a:solidFill>
              </a:rPr>
              <a:t>Single-Chip CPU/GPU Integration for Edge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19C35-5A8A-9A0B-4B27-6BDD77D4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" y="1185651"/>
            <a:ext cx="11740896" cy="516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B8001C-5678-2375-2B6A-DE335D5E50FE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A621B9-B170-C0E6-A23A-3DE807FF7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09366"/>
            <a:ext cx="11914632" cy="590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1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438C-7714-1E22-7EC3-D9580945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26F67-B31F-559A-4411-8EA87B2EDBF8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High-Level IPs  Summary (1/2)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6536D-F8EE-0C55-2F30-0DF538368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48" y="829660"/>
            <a:ext cx="11164369" cy="548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1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CA0C-1DDC-3831-9264-4D18C8DF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EEA108-BA2F-8D17-C549-7D174CEFD89A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High-Level IPs  Summary (2/2)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C7E16-5EC1-1889-E66B-2B37357F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" y="742574"/>
            <a:ext cx="11322330" cy="556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0DA3-C32C-3FFB-5C99-1FEA37C6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622FBB-6F0F-3968-F193-D9105AD17A0C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Software/Firmware/Tools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33FA4-21A4-DFB3-136F-FD82CFC92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1" y="811202"/>
            <a:ext cx="11653623" cy="533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6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710A-2363-1F2A-2CE7-E18FE4DE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43FA-7DFC-3FB0-2398-CB4B8831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05" y="86107"/>
            <a:ext cx="10426875" cy="474345"/>
          </a:xfrm>
        </p:spPr>
        <p:txBody>
          <a:bodyPr/>
          <a:lstStyle/>
          <a:p>
            <a:r>
              <a:rPr lang="en-US"/>
              <a:t>R&amp;R Summary Slide across the teams and </a:t>
            </a:r>
            <a:r>
              <a:rPr lang="en-US" err="1"/>
              <a:t>ASk</a:t>
            </a:r>
            <a:r>
              <a:rPr lang="en-US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56BF76-46DC-8EB6-9661-7AA4A1611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94803"/>
              </p:ext>
            </p:extLst>
          </p:nvPr>
        </p:nvGraphicFramePr>
        <p:xfrm>
          <a:off x="305705" y="653822"/>
          <a:ext cx="11580592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600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2736055">
                  <a:extLst>
                    <a:ext uri="{9D8B030D-6E8A-4147-A177-3AD203B41FA5}">
                      <a16:colId xmlns:a16="http://schemas.microsoft.com/office/drawing/2014/main" val="1003361512"/>
                    </a:ext>
                  </a:extLst>
                </a:gridCol>
                <a:gridCol w="7417937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Ownership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Component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569054">
                <a:tc rowSpan="3"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G&amp;E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OS/Drivers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Linux GPU Driver on Linux OS (Ubuntu)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Support till IP.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Assume leverage from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Grimlock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for GFX/MM/Display/PM – Reactive support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GFX - OpenGL, Vulkan, Multimedia,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Gstreamer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. Same code base as 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Grimlock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GPU RAS support.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Display – Same as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Grimlock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with enhancements, New RAS features.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Power Management (S0ix3, reboot)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Pre-silicon validation support for GFX SW driver, Same as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Grimlock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170716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Firmware (PFO)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FW for Pre-Silicon and post silicon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PFO will support till UU and </a:t>
                      </a:r>
                      <a:r>
                        <a:rPr lang="en-US" sz="12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Bringup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EPD owns after </a:t>
                      </a:r>
                      <a:r>
                        <a:rPr lang="en-US" sz="12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Bringup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520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Linux AAF support for ACP and X86 Driver for I2S/TDM.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462519"/>
                  </a:ext>
                </a:extLst>
              </a:tr>
              <a:tr h="286660">
                <a:tc rowSpan="2"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PSW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 Drivers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Leverage from existing programs – Reactive support for 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NVME, UART, SPI, I2C, I3C, GPIO, USB3, USB4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693030"/>
                  </a:ext>
                </a:extLst>
              </a:tr>
              <a:tr h="170716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XGBE Driver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Leverage from KRK2e for Ethernet – Reactive support 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2x10Gbe Ethernet Driver. Post SoC support.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30870"/>
                  </a:ext>
                </a:extLst>
              </a:tr>
              <a:tr h="70183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Power/Performance Projections, SoC and System characterization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Platform Emulation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EDKII BIOS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Security FW features leveraged from Medusa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RAS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Post SoC IP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IOMMU support in BIOS and Drivers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DACC with SDXI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MIPI CSI Controller Driver support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Customer use case validation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16721"/>
                  </a:ext>
                </a:extLst>
              </a:tr>
              <a:tr h="170716">
                <a:tc rowSpan="2"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AECG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Human Vision ISP</a:t>
                      </a:r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(Leverage Telluride IP)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ISP Tuning and Linux driver	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8373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Safety Island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FW/Drivers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64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3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4E18-379B-1B99-2194-D79B6656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Peripheral drivers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8D1CB3-15DD-4B17-EF46-8C1A8ED1E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44950"/>
              </p:ext>
            </p:extLst>
          </p:nvPr>
        </p:nvGraphicFramePr>
        <p:xfrm>
          <a:off x="305704" y="1103712"/>
          <a:ext cx="10430822" cy="325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953">
                  <a:extLst>
                    <a:ext uri="{9D8B030D-6E8A-4147-A177-3AD203B41FA5}">
                      <a16:colId xmlns:a16="http://schemas.microsoft.com/office/drawing/2014/main" val="2464071154"/>
                    </a:ext>
                  </a:extLst>
                </a:gridCol>
                <a:gridCol w="1582953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7264916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430813">
                <a:tc>
                  <a:txBody>
                    <a:bodyPr/>
                    <a:lstStyle/>
                    <a:p>
                      <a:r>
                        <a:rPr lang="en-US" sz="1600"/>
                        <a:t>Ownership 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Driver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35223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PCIe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PCIe Gen5 x8 (bifurcate-able) RC for </a:t>
                      </a:r>
                      <a:r>
                        <a:rPr lang="en-US" sz="1600" err="1">
                          <a:solidFill>
                            <a:schemeClr val="tx1"/>
                          </a:solidFill>
                        </a:rPr>
                        <a:t>NVMe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1072"/>
                  </a:ext>
                </a:extLst>
              </a:tr>
              <a:tr h="618056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DACC 64GB/s max bandwidth support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SDXI driver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87877"/>
                  </a:ext>
                </a:extLst>
              </a:tr>
              <a:tr h="62958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MIPI CSI /Camera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MIPI CSI-2 Support ( same as Eris)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8x MIPI interface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62698"/>
                  </a:ext>
                </a:extLst>
              </a:tr>
              <a:tr h="404323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IOMMU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IOMMU Driver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493894"/>
                  </a:ext>
                </a:extLst>
              </a:tr>
              <a:tr h="386035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PSW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Ethernet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2x 10GBe Ethernet support (SNPS). Same as KRK2e. Reactive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595628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PSW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Other 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err="1">
                          <a:solidFill>
                            <a:schemeClr val="tx1"/>
                          </a:solidFill>
                        </a:rPr>
                        <a:t>NVMe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, UART, SPI, I2C, GPIO, USB 3.1-A. Reactive support.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3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11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C1CB-7013-D859-A668-193E3CFA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23A6-D7C3-0A25-ECDA-D5E4650E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and Power management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F1736C-9356-B9D7-15A9-9BC129403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661320"/>
              </p:ext>
            </p:extLst>
          </p:nvPr>
        </p:nvGraphicFramePr>
        <p:xfrm>
          <a:off x="176396" y="1173707"/>
          <a:ext cx="11308939" cy="2343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619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7223420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Linux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Ubuntu LTS OS with latest mainline  kernel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 to own porting to LTS kernel on Ubuntu and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Yocto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All drivers to be open source by GA + 3months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AECG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Hypervisor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Hypervisor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09066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Power management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S0i3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s0i3  low power state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5710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Reboot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Warm and cold reboot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572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45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4E18-379B-1B99-2194-D79B6656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05" y="241555"/>
            <a:ext cx="10426875" cy="474345"/>
          </a:xfrm>
        </p:spPr>
        <p:txBody>
          <a:bodyPr/>
          <a:lstStyle/>
          <a:p>
            <a:r>
              <a:rPr lang="en-US"/>
              <a:t>HIGH level BIOS/FW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8D1CB3-15DD-4B17-EF46-8C1A8ED1E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99510"/>
              </p:ext>
            </p:extLst>
          </p:nvPr>
        </p:nvGraphicFramePr>
        <p:xfrm>
          <a:off x="305705" y="826235"/>
          <a:ext cx="11308939" cy="27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619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7223420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BIOS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EDKII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EDKII BIOS.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Scoping can happen with it.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If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Coreboot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support is required, that will require addition scoping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Firmware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Security features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Secure boot, A/B recovery, FAR,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fTPM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, ROM Armor, etc. (Detailed security feature requirement is not available currently, assume regular security feature enablement on Zen6)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609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RAS feature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4272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Pre-silicon FW 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Pre-silicon FW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0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27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886BB-4A9A-BD44-A611-42F3C5CB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31" y="127561"/>
            <a:ext cx="10426875" cy="474345"/>
          </a:xfrm>
        </p:spPr>
        <p:txBody>
          <a:bodyPr>
            <a:normAutofit/>
          </a:bodyPr>
          <a:lstStyle/>
          <a:p>
            <a:r>
              <a:rPr lang="en-US"/>
              <a:t>Capitola  Preliminary Program Schedule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2BD93-9F5F-059F-91C5-343F02969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31" y="704088"/>
            <a:ext cx="11601138" cy="556994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516EC3-B357-E8E2-145C-795EFF547A58}"/>
              </a:ext>
            </a:extLst>
          </p:cNvPr>
          <p:cNvSpPr/>
          <p:nvPr/>
        </p:nvSpPr>
        <p:spPr>
          <a:xfrm>
            <a:off x="3095978" y="3477784"/>
            <a:ext cx="2895600" cy="92726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>
                <a:solidFill>
                  <a:schemeClr val="bg1"/>
                </a:solidFill>
              </a:rPr>
              <a:t>Pre-silicon support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GFX Driver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Base FW from PFO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D4C5B-E185-D90C-C8E4-94028A076B53}"/>
              </a:ext>
            </a:extLst>
          </p:cNvPr>
          <p:cNvSpPr/>
          <p:nvPr/>
        </p:nvSpPr>
        <p:spPr>
          <a:xfrm>
            <a:off x="6797322" y="3472816"/>
            <a:ext cx="2895600" cy="9272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>
                <a:solidFill>
                  <a:schemeClr val="bg1"/>
                </a:solidFill>
              </a:rPr>
              <a:t>Post-Silicon support –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GFX,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Audio,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IO’s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>
                <a:solidFill>
                  <a:schemeClr val="bg1"/>
                </a:solidFill>
              </a:rPr>
              <a:t>Ethernet Support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9C1EE-4265-8C23-A8DF-74EF947ED0DB}"/>
              </a:ext>
            </a:extLst>
          </p:cNvPr>
          <p:cNvSpPr txBox="1"/>
          <p:nvPr/>
        </p:nvSpPr>
        <p:spPr>
          <a:xfrm>
            <a:off x="996696" y="3733803"/>
            <a:ext cx="2109387" cy="2462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  <a:buClr>
                <a:schemeClr val="bg2"/>
              </a:buClr>
            </a:pPr>
            <a:r>
              <a:rPr lang="en-IN" sz="1000">
                <a:solidFill>
                  <a:schemeClr val="tx2"/>
                </a:solidFill>
              </a:rPr>
              <a:t>SW(FW/BIOS/OS/Driver)Support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5E77E2-CACC-D4A4-5AC9-FE788C88FC2A}"/>
              </a:ext>
            </a:extLst>
          </p:cNvPr>
          <p:cNvCxnSpPr>
            <a:cxnSpLocks/>
          </p:cNvCxnSpPr>
          <p:nvPr/>
        </p:nvCxnSpPr>
        <p:spPr>
          <a:xfrm>
            <a:off x="2743200" y="3341514"/>
            <a:ext cx="3601156" cy="0"/>
          </a:xfrm>
          <a:prstGeom prst="straightConnector1">
            <a:avLst/>
          </a:prstGeom>
          <a:ln w="57150">
            <a:solidFill>
              <a:schemeClr val="bg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B8FADC-63EA-5ABC-FE35-4689D2341438}"/>
              </a:ext>
            </a:extLst>
          </p:cNvPr>
          <p:cNvCxnSpPr>
            <a:cxnSpLocks/>
          </p:cNvCxnSpPr>
          <p:nvPr/>
        </p:nvCxnSpPr>
        <p:spPr>
          <a:xfrm>
            <a:off x="6344356" y="3341514"/>
            <a:ext cx="3801532" cy="0"/>
          </a:xfrm>
          <a:prstGeom prst="straightConnector1">
            <a:avLst/>
          </a:prstGeom>
          <a:ln w="57150">
            <a:solidFill>
              <a:schemeClr val="bg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79052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A68CC-1815-6345-1BB3-E772D7F3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CEBF-71A7-00D6-35EB-0E473FED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Fusa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90E90-4CF4-6DBE-1AB6-13AFBCB85671}"/>
              </a:ext>
            </a:extLst>
          </p:cNvPr>
          <p:cNvSpPr txBox="1"/>
          <p:nvPr/>
        </p:nvSpPr>
        <p:spPr>
          <a:xfrm>
            <a:off x="472611" y="998648"/>
            <a:ext cx="982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spcAft>
                <a:spcPts val="600"/>
              </a:spcAft>
              <a:buClr>
                <a:schemeClr val="bg2"/>
              </a:buClr>
              <a:buFont typeface="Wingdings 3" pitchFamily="18" charset="2"/>
              <a:buChar char="}"/>
            </a:pPr>
            <a:r>
              <a:rPr lang="en-US"/>
              <a:t>Any </a:t>
            </a:r>
            <a:r>
              <a:rPr lang="en-US" err="1"/>
              <a:t>FuSa</a:t>
            </a:r>
            <a:r>
              <a:rPr lang="en-US"/>
              <a:t> efforts, can be comprehended on top of the base support and called out separately</a:t>
            </a:r>
          </a:p>
        </p:txBody>
      </p:sp>
    </p:spTree>
    <p:extLst>
      <p:ext uri="{BB962C8B-B14F-4D97-AF65-F5344CB8AC3E}">
        <p14:creationId xmlns:p14="http://schemas.microsoft.com/office/powerpoint/2010/main" val="156249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F83C-0636-9461-1EC2-3C06E67D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DCB41D-322D-23FC-5146-E447DBF5A87B}"/>
              </a:ext>
            </a:extLst>
          </p:cNvPr>
          <p:cNvSpPr txBox="1">
            <a:spLocks/>
          </p:cNvSpPr>
          <p:nvPr/>
        </p:nvSpPr>
        <p:spPr>
          <a:xfrm>
            <a:off x="10292956" y="3076600"/>
            <a:ext cx="1557668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Back up</a:t>
            </a:r>
          </a:p>
        </p:txBody>
      </p:sp>
    </p:spTree>
    <p:extLst>
      <p:ext uri="{BB962C8B-B14F-4D97-AF65-F5344CB8AC3E}">
        <p14:creationId xmlns:p14="http://schemas.microsoft.com/office/powerpoint/2010/main" val="401054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MD WIDE BLK - USE THIS TEMPLATE!!!">
  <a:themeElements>
    <a:clrScheme name="Custom 8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812990"/>
      </a:accent5>
      <a:accent6>
        <a:srgbClr val="C7C8CA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4625" indent="-174625">
          <a:spcAft>
            <a:spcPts val="600"/>
          </a:spcAft>
          <a:buClr>
            <a:schemeClr val="bg2"/>
          </a:buClr>
          <a:buFont typeface="Wingdings 3" pitchFamily="18" charset="2"/>
          <a:buChar char="}"/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AMD WIDE BLK - USE THIS TEMPLATE!!!">
  <a:themeElements>
    <a:clrScheme name="Custom 8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812990"/>
      </a:accent5>
      <a:accent6>
        <a:srgbClr val="C7C8CA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4625" indent="-174625">
          <a:spcAft>
            <a:spcPts val="600"/>
          </a:spcAft>
          <a:buClr>
            <a:schemeClr val="bg2"/>
          </a:buClr>
          <a:buFont typeface="Wingdings 3" pitchFamily="18" charset="2"/>
          <a:buChar char="}"/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AMD Corporate Template_Dark">
  <a:themeElements>
    <a:clrScheme name="Custom 4">
      <a:dk1>
        <a:srgbClr val="000000"/>
      </a:dk1>
      <a:lt1>
        <a:srgbClr val="FFFFFF"/>
      </a:lt1>
      <a:dk2>
        <a:srgbClr val="8A8E91"/>
      </a:dk2>
      <a:lt2>
        <a:srgbClr val="E1DEDE"/>
      </a:lt2>
      <a:accent1>
        <a:srgbClr val="898892"/>
      </a:accent1>
      <a:accent2>
        <a:srgbClr val="323138"/>
      </a:accent2>
      <a:accent3>
        <a:srgbClr val="E1DCDE"/>
      </a:accent3>
      <a:accent4>
        <a:srgbClr val="F26520"/>
      </a:accent4>
      <a:accent5>
        <a:srgbClr val="EC1923"/>
      </a:accent5>
      <a:accent6>
        <a:srgbClr val="007C97"/>
      </a:accent6>
      <a:hlink>
        <a:srgbClr val="8A8893"/>
      </a:hlink>
      <a:folHlink>
        <a:srgbClr val="8A86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228600" indent="-228600" algn="l">
          <a:buClr>
            <a:schemeClr val="accent1"/>
          </a:buClr>
          <a:buSzPct val="60000"/>
          <a:buFont typeface=".PingFang SC Regular"/>
          <a:buChar char="◢"/>
          <a:defRPr sz="1800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3DC756-0F00-E047-A94F-5B20009793C0}" vid="{577650BF-C3B0-E74C-BA0A-88ACE7DFD5F0}"/>
    </a:ext>
  </a:extLst>
</a:theme>
</file>

<file path=ppt/theme/theme4.xml><?xml version="1.0" encoding="utf-8"?>
<a:theme xmlns:a="http://schemas.openxmlformats.org/drawingml/2006/main" name="6_AMD Corporate Template_Dark">
  <a:themeElements>
    <a:clrScheme name="AMD Datacenter Theme">
      <a:dk1>
        <a:srgbClr val="000000"/>
      </a:dk1>
      <a:lt1>
        <a:srgbClr val="FFFFFF"/>
      </a:lt1>
      <a:dk2>
        <a:srgbClr val="545554"/>
      </a:dk2>
      <a:lt2>
        <a:srgbClr val="999A99"/>
      </a:lt2>
      <a:accent1>
        <a:srgbClr val="8DB7C8"/>
      </a:accent1>
      <a:accent2>
        <a:srgbClr val="003B4B"/>
      </a:accent2>
      <a:accent3>
        <a:srgbClr val="01809C"/>
      </a:accent3>
      <a:accent4>
        <a:srgbClr val="797979"/>
      </a:accent4>
      <a:accent5>
        <a:srgbClr val="C0C0C0"/>
      </a:accent5>
      <a:accent6>
        <a:srgbClr val="EAEAEA"/>
      </a:accent6>
      <a:hlink>
        <a:srgbClr val="96BDD6"/>
      </a:hlink>
      <a:folHlink>
        <a:srgbClr val="96BD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buClr>
            <a:schemeClr val="accent1"/>
          </a:buClr>
          <a:buSzPct val="80000"/>
          <a:defRPr sz="1800" dirty="0" err="1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1 Data center Template.potx" id="{6A1C4D60-5F7E-4B53-9317-6D91DC499F64}" vid="{7B27CC42-495B-4532-A930-AA62E0D8CD80}"/>
    </a:ext>
  </a:extLst>
</a:theme>
</file>

<file path=ppt/theme/theme5.xml><?xml version="1.0" encoding="utf-8"?>
<a:theme xmlns:a="http://schemas.openxmlformats.org/drawingml/2006/main" name="1_AMD Corporate Template_Dark">
  <a:themeElements>
    <a:clrScheme name="Custom 4">
      <a:dk1>
        <a:srgbClr val="000000"/>
      </a:dk1>
      <a:lt1>
        <a:srgbClr val="FFFFFF"/>
      </a:lt1>
      <a:dk2>
        <a:srgbClr val="8A8E91"/>
      </a:dk2>
      <a:lt2>
        <a:srgbClr val="E1DEDE"/>
      </a:lt2>
      <a:accent1>
        <a:srgbClr val="898892"/>
      </a:accent1>
      <a:accent2>
        <a:srgbClr val="323138"/>
      </a:accent2>
      <a:accent3>
        <a:srgbClr val="E1DCDE"/>
      </a:accent3>
      <a:accent4>
        <a:srgbClr val="F26520"/>
      </a:accent4>
      <a:accent5>
        <a:srgbClr val="EC1923"/>
      </a:accent5>
      <a:accent6>
        <a:srgbClr val="007C97"/>
      </a:accent6>
      <a:hlink>
        <a:srgbClr val="8A8893"/>
      </a:hlink>
      <a:folHlink>
        <a:srgbClr val="8A86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228600" indent="-228600" algn="l">
          <a:buClr>
            <a:schemeClr val="accent1"/>
          </a:buClr>
          <a:buSzPct val="60000"/>
          <a:buFont typeface=".PingFang SC Regular"/>
          <a:buChar char="◢"/>
          <a:defRPr sz="1800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3DC756-0F00-E047-A94F-5B20009793C0}" vid="{577650BF-C3B0-E74C-BA0A-88ACE7DFD5F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5D3B6C4037648ADB630D87F7C73B1" ma:contentTypeVersion="6" ma:contentTypeDescription="Create a new document." ma:contentTypeScope="" ma:versionID="a63cf6afd20356f96c9f76903abc77e0">
  <xsd:schema xmlns:xsd="http://www.w3.org/2001/XMLSchema" xmlns:xs="http://www.w3.org/2001/XMLSchema" xmlns:p="http://schemas.microsoft.com/office/2006/metadata/properties" xmlns:ns2="0050e9fa-c740-448c-b343-dcb3d8e6283d" xmlns:ns3="128c92eb-725c-4930-9728-feaef3a4f7e6" targetNamespace="http://schemas.microsoft.com/office/2006/metadata/properties" ma:root="true" ma:fieldsID="a0b68e1eccf541665e9f52a4c4a32852" ns2:_="" ns3:_="">
    <xsd:import namespace="0050e9fa-c740-448c-b343-dcb3d8e6283d"/>
    <xsd:import namespace="128c92eb-725c-4930-9728-feaef3a4f7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0e9fa-c740-448c-b343-dcb3d8e628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92eb-725c-4930-9728-feaef3a4f7e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A43B22-F1AE-40E5-A724-59043493D0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2C2B6A-01CF-4863-89FB-636C7A7A454C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0050e9fa-c740-448c-b343-dcb3d8e6283d"/>
    <ds:schemaRef ds:uri="http://purl.org/dc/elements/1.1/"/>
    <ds:schemaRef ds:uri="http://www.w3.org/XML/1998/namespace"/>
    <ds:schemaRef ds:uri="http://schemas.microsoft.com/office/infopath/2007/PartnerControls"/>
    <ds:schemaRef ds:uri="128c92eb-725c-4930-9728-feaef3a4f7e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E8DA970-3194-42A9-82A5-B95E620C4F21}">
  <ds:schemaRefs>
    <ds:schemaRef ds:uri="0050e9fa-c740-448c-b343-dcb3d8e6283d"/>
    <ds:schemaRef ds:uri="128c92eb-725c-4930-9728-feaef3a4f7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454155b-27bc-4836-9eca-78a71baa37b9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Widescreen</PresentationFormat>
  <Paragraphs>125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.PingFang SC Regular</vt:lpstr>
      <vt:lpstr>Arial</vt:lpstr>
      <vt:lpstr>Calibri</vt:lpstr>
      <vt:lpstr>Consolas</vt:lpstr>
      <vt:lpstr>Klavika</vt:lpstr>
      <vt:lpstr>Klavika Light</vt:lpstr>
      <vt:lpstr>Klavika Medium</vt:lpstr>
      <vt:lpstr>Klavika Regular</vt:lpstr>
      <vt:lpstr>Segoe UI</vt:lpstr>
      <vt:lpstr>Wingdings</vt:lpstr>
      <vt:lpstr>Wingdings 3</vt:lpstr>
      <vt:lpstr>AMD WIDE BLK - USE THIS TEMPLATE!!!</vt:lpstr>
      <vt:lpstr>1_AMD WIDE BLK - USE THIS TEMPLATE!!!</vt:lpstr>
      <vt:lpstr>AMD Corporate Template_Dark</vt:lpstr>
      <vt:lpstr>6_AMD Corporate Template_Dark</vt:lpstr>
      <vt:lpstr>1_AMD Corporate Template_Dark</vt:lpstr>
      <vt:lpstr>think-cell Slide</vt:lpstr>
      <vt:lpstr>Capitola 40 - high level software features and R&amp;R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R&amp;R Summary Slide across the teams and ASk </vt:lpstr>
      <vt:lpstr>Peripheral drivers</vt:lpstr>
      <vt:lpstr>OS and Power management</vt:lpstr>
      <vt:lpstr>HIGH level BIOS/FW features</vt:lpstr>
      <vt:lpstr>Capitola  Preliminary Program Schedule  </vt:lpstr>
      <vt:lpstr>Fusa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V2000A CSI/ISP requirement</dc:title>
  <dc:creator>Kabbi, Santosh Kumar</dc:creator>
  <cp:lastModifiedBy>Arya, Rahul</cp:lastModifiedBy>
  <cp:revision>2</cp:revision>
  <dcterms:created xsi:type="dcterms:W3CDTF">2019-01-15T22:37:24Z</dcterms:created>
  <dcterms:modified xsi:type="dcterms:W3CDTF">2026-06-24T16:23:27Z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79fe2f-c605-4da1-a326-a2d599ca0ca3_Enabled">
    <vt:lpwstr>true</vt:lpwstr>
  </property>
  <property fmtid="{D5CDD505-2E9C-101B-9397-08002B2CF9AE}" pid="3" name="MSIP_Label_b279fe2f-c605-4da1-a326-a2d599ca0ca3_SetDate">
    <vt:lpwstr>2022-03-15T03:44:04Z</vt:lpwstr>
  </property>
  <property fmtid="{D5CDD505-2E9C-101B-9397-08002B2CF9AE}" pid="4" name="MSIP_Label_b279fe2f-c605-4da1-a326-a2d599ca0ca3_Method">
    <vt:lpwstr>Privileged</vt:lpwstr>
  </property>
  <property fmtid="{D5CDD505-2E9C-101B-9397-08002B2CF9AE}" pid="5" name="MSIP_Label_b279fe2f-c605-4da1-a326-a2d599ca0ca3_Name">
    <vt:lpwstr>Distribution with NDA  AIP 2.0</vt:lpwstr>
  </property>
  <property fmtid="{D5CDD505-2E9C-101B-9397-08002B2CF9AE}" pid="6" name="MSIP_Label_b279fe2f-c605-4da1-a326-a2d599ca0ca3_SiteId">
    <vt:lpwstr>3dd8961f-e488-4e60-8e11-a82d994e183d</vt:lpwstr>
  </property>
  <property fmtid="{D5CDD505-2E9C-101B-9397-08002B2CF9AE}" pid="7" name="MSIP_Label_b279fe2f-c605-4da1-a326-a2d599ca0ca3_ActionId">
    <vt:lpwstr>260237c4-2615-48f5-828a-5ac9c31465a1</vt:lpwstr>
  </property>
  <property fmtid="{D5CDD505-2E9C-101B-9397-08002B2CF9AE}" pid="8" name="MSIP_Label_b279fe2f-c605-4da1-a326-a2d599ca0ca3_ContentBits">
    <vt:lpwstr>1</vt:lpwstr>
  </property>
  <property fmtid="{D5CDD505-2E9C-101B-9397-08002B2CF9AE}" pid="9" name="ContentTypeId">
    <vt:lpwstr>0x010100D3A5D3B6C4037648ADB630D87F7C73B1</vt:lpwstr>
  </property>
  <property fmtid="{D5CDD505-2E9C-101B-9397-08002B2CF9AE}" pid="10" name="MediaServiceImageTags">
    <vt:lpwstr/>
  </property>
  <property fmtid="{D5CDD505-2E9C-101B-9397-08002B2CF9AE}" pid="11" name="ClassificationContentMarkingHeaderLocations">
    <vt:lpwstr>AMD WIDE BLK - USE THIS TEMPLATE!!!:10\1_AMD WIDE BLK - USE THIS TEMPLATE!!!:10\AMD Corporate Template_Dark:34\6_AMD Corporate Template_Dark:8</vt:lpwstr>
  </property>
  <property fmtid="{D5CDD505-2E9C-101B-9397-08002B2CF9AE}" pid="12" name="ClassificationContentMarkingHeaderText">
    <vt:lpwstr>[AMD Confidential - Distribution Under NDA]</vt:lpwstr>
  </property>
</Properties>
</file>